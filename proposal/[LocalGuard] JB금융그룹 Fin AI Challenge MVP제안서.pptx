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ihjF2ZWQEcNdCQGL3IzqOLXbA9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78BA"/>
    <a:srgbClr val="2691C5"/>
    <a:srgbClr val="FFFFFF"/>
    <a:srgbClr val="204B90"/>
    <a:srgbClr val="C12026"/>
    <a:srgbClr val="004889"/>
    <a:srgbClr val="004687"/>
    <a:srgbClr val="3CB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피해액(억원)</c:v>
                </c:pt>
              </c:strCache>
            </c:strRef>
          </c:tx>
          <c:spPr>
            <a:solidFill>
              <a:srgbClr val="0B6FB3"/>
            </a:solidFill>
          </c:spPr>
          <c:dPt>
            <c:idx val="0"/>
            <c:spPr>
              <a:solidFill>
                <a:srgbClr val="D6E3F1"/>
              </a:solidFill>
            </c:spPr>
          </c:dPt>
          <c:dPt>
            <c:idx val="1"/>
            <c:spPr>
              <a:solidFill>
                <a:srgbClr val="D6E3F1"/>
              </a:solidFill>
            </c:spPr>
          </c:dPt>
          <c:dPt>
            <c:idx val="2"/>
            <c:spPr>
              <a:solidFill>
                <a:srgbClr val="D6E3F1"/>
              </a:solidFill>
            </c:spPr>
          </c:dPt>
          <c:cat>
            <c:strRef>
              <c:f>Sheet1!$A$2:$A$3</c:f>
              <c:strCache>
                <c:ptCount val="2"/>
                <c:pt idx="0">
                  <c:v>2024년 1~11월</c:v>
                </c:pt>
                <c:pt idx="1">
                  <c:v>2025년 1~11월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7263</c:v>
                </c:pt>
                <c:pt idx="1">
                  <c:v>11330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>
                  <a:solidFill>
                    <a:srgbClr val="0F1F3A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E3F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637797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 결정(건)</c:v>
                </c:pt>
              </c:strCache>
            </c:strRef>
          </c:tx>
          <c:spPr>
            <a:ln w="28575">
              <a:solidFill>
                <a:srgbClr val="07569D"/>
              </a:solidFill>
            </a:ln>
          </c:spPr>
          <c:cat>
            <c:strRef>
              <c:f>Sheet1!$A$2:$A$5</c:f>
              <c:strCache>
                <c:ptCount val="4"/>
                <c:pt idx="0">
                  <c:v>’25.8</c:v>
                </c:pt>
                <c:pt idx="1">
                  <c:v>’25.10</c:v>
                </c:pt>
                <c:pt idx="2">
                  <c:v>’25.11</c:v>
                </c:pt>
                <c:pt idx="3">
                  <c:v>’26.5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32185</c:v>
                </c:pt>
                <c:pt idx="1">
                  <c:v>33978</c:v>
                </c:pt>
                <c:pt idx="2">
                  <c:v>34481</c:v>
                </c:pt>
                <c:pt idx="3">
                  <c:v>39121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800">
                  <a:solidFill>
                    <a:srgbClr val="0F1F3A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E3F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637797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alt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356192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582645" y="1766158"/>
            <a:ext cx="9604661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JB</a:t>
            </a:r>
            <a:r>
              <a:rPr lang="ko-KR" altLang="en-US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금융그룹 </a:t>
            </a:r>
            <a:r>
              <a:rPr lang="en-US" altLang="ko-KR" sz="4000" b="0" i="0" dirty="0" err="1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Fin:AI</a:t>
            </a: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 Challenge</a:t>
            </a:r>
            <a:endParaRPr lang="en-US" altLang="ko-KR" sz="40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graphicFrame>
        <p:nvGraphicFramePr>
          <p:cNvPr id="89" name="Google Shape;89;p1"/>
          <p:cNvGraphicFramePr/>
          <p:nvPr>
            <p:extLst>
              <p:ext uri="{D42A27DB-BD31-4B8C-83A1-F6EECF244321}">
                <p14:modId xmlns:p14="http://schemas.microsoft.com/office/powerpoint/2010/main" val="53809264"/>
              </p:ext>
            </p:extLst>
          </p:nvPr>
        </p:nvGraphicFramePr>
        <p:xfrm>
          <a:off x="3386675" y="4470435"/>
          <a:ext cx="5418650" cy="899000"/>
        </p:xfrm>
        <a:graphic>
          <a:graphicData uri="http://schemas.openxmlformats.org/drawingml/2006/table">
            <a:tbl>
              <a:tblPr firstRow="1" bandRow="1">
                <a:noFill/>
                <a:tableStyleId>{97A43732-219E-4773-AEE6-7331DB972763}</a:tableStyleId>
              </a:tblPr>
              <a:tblGrid>
                <a:gridCol w="270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 u="none" strike="noStrike" cap="none" dirty="0" err="1"/>
                        <a:t>팀명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LocalGuard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800" u="none" strike="noStrike" cap="none" dirty="0"/>
                        <a:t>서비스명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JB LocalGuard OS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531980"/>
                  </a:ext>
                </a:extLst>
              </a:tr>
            </a:tbl>
          </a:graphicData>
        </a:graphic>
      </p:graphicFrame>
      <p:cxnSp>
        <p:nvCxnSpPr>
          <p:cNvPr id="90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1"/>
          <p:cNvCxnSpPr>
            <a:cxnSpLocks/>
          </p:cNvCxnSpPr>
          <p:nvPr/>
        </p:nvCxnSpPr>
        <p:spPr>
          <a:xfrm>
            <a:off x="1582645" y="2607351"/>
            <a:ext cx="9508142" cy="0"/>
          </a:xfrm>
          <a:prstGeom prst="straightConnector1">
            <a:avLst/>
          </a:prstGeom>
          <a:noFill/>
          <a:ln w="38100" cap="flat" cmpd="sng">
            <a:solidFill>
              <a:srgbClr val="204B9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Google Shape;90;p1">
            <a:extLst>
              <a:ext uri="{FF2B5EF4-FFF2-40B4-BE49-F238E27FC236}">
                <a16:creationId xmlns:a16="http://schemas.microsoft.com/office/drawing/2014/main" id="{053CAB3C-01D3-307A-B765-DB89E56FD267}"/>
              </a:ext>
            </a:extLst>
          </p:cNvPr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691C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Google Shape;88;p1">
            <a:extLst>
              <a:ext uri="{FF2B5EF4-FFF2-40B4-BE49-F238E27FC236}">
                <a16:creationId xmlns:a16="http://schemas.microsoft.com/office/drawing/2014/main" id="{843A480D-A23F-1A8F-080E-E9B0778DF5F8}"/>
              </a:ext>
            </a:extLst>
          </p:cNvPr>
          <p:cNvSpPr txBox="1"/>
          <p:nvPr/>
        </p:nvSpPr>
        <p:spPr>
          <a:xfrm>
            <a:off x="4645457" y="2802248"/>
            <a:ext cx="2901085" cy="587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MVP </a:t>
            </a:r>
            <a:r>
              <a:rPr lang="ko-KR" altLang="en-US" sz="2800">
                <a:solidFill>
                  <a:srgbClr val="202124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제안</a:t>
            </a:r>
            <a:r>
              <a:rPr lang="ko-KR" altLang="en-US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서</a:t>
            </a:r>
            <a:endParaRPr lang="en-US" altLang="ko-KR" sz="28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B2209C-6979-9157-1F5A-B28B3C592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581912" y="361188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637797"/>
                </a:solidFill>
                <a:latin typeface="Pretendard"/>
                <a:ea typeface="Pretendard"/>
              </a:rPr>
              <a:t>지역 금융 위험을 케이스로 만들고, AI 에이전트가 판단하고, 사람이 승인하는 금융안전 운영체제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E82A0D5-5563-BD1F-6E05-4BFFF3CA4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77535"/>
              </p:ext>
            </p:extLst>
          </p:nvPr>
        </p:nvGraphicFramePr>
        <p:xfrm>
          <a:off x="744427" y="1145754"/>
          <a:ext cx="10776155" cy="469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648815269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1921105622"/>
                    </a:ext>
                  </a:extLst>
                </a:gridCol>
              </a:tblGrid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팀명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sz="1500" b="1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LocalGuard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280422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팀원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sz="1500" b="0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이승보 (1인 팀)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25227288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서비스명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sz="1500" b="1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JB LocalGuard OS  —  지역금융 안전 AI 에이전트 운영 콘솔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4307777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주제 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sz="1500" b="0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자유주제 (JB 미래사업 AI · 지역금융 리스크 대응 AI 에이전트 OS)</a:t>
                      </a:r>
                      <a:endParaRPr lang="ko-KR" altLang="en-US" sz="1400" i="1" dirty="0">
                        <a:solidFill>
                          <a:srgbClr val="0070C0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938048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한줄소개</a:t>
                      </a:r>
                      <a:endParaRPr lang="en-US" altLang="ko-KR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sz="1400" b="0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자금압박 · 전세사기 · 보이스피싱 등 지역 고객의 금융 위험을 </a:t>
                      </a:r>
                      <a:r>
                        <a:rPr sz="1400" b="1">
                          <a:solidFill>
                            <a:srgbClr val="07569D"/>
                          </a:solidFill>
                          <a:latin typeface="Pretendard"/>
                          <a:ea typeface="Pretendard"/>
                        </a:rPr>
                        <a:t>케이스</a:t>
                      </a:r>
                      <a:r>
                        <a:rPr sz="1400" b="0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로 등록하면, 전문 AI 에이전트들이 </a:t>
                      </a:r>
                      <a:r>
                        <a:rPr sz="1400" b="1">
                          <a:solidFill>
                            <a:srgbClr val="07569D"/>
                          </a:solidFill>
                          <a:latin typeface="Pretendard"/>
                          <a:ea typeface="Pretendard"/>
                        </a:rPr>
                        <a:t>판단 → 조치 초안 → 사람 승인 → 감사 기록</a:t>
                      </a:r>
                      <a:r>
                        <a:rPr sz="1400" b="0">
                          <a:solidFill>
                            <a:srgbClr val="0F1F3A"/>
                          </a:solidFill>
                          <a:latin typeface="Pretendard"/>
                          <a:ea typeface="Pretendard"/>
                        </a:rPr>
                        <a:t>까지 수행하는 JB 금융안전 운영 콘솔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9393612"/>
                  </a:ext>
                </a:extLst>
              </a:tr>
            </a:tbl>
          </a:graphicData>
        </a:graphic>
      </p:graphicFrame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B1DBEA1A-7DC9-3798-9EAA-C04652D3DCC4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" name="Google Shape;99;p2">
            <a:extLst>
              <a:ext uri="{FF2B5EF4-FFF2-40B4-BE49-F238E27FC236}">
                <a16:creationId xmlns:a16="http://schemas.microsoft.com/office/drawing/2014/main" id="{042EBB0F-0210-2C73-6523-51C3A0EB0550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" name="Google Shape;101;p2">
            <a:extLst>
              <a:ext uri="{FF2B5EF4-FFF2-40B4-BE49-F238E27FC236}">
                <a16:creationId xmlns:a16="http://schemas.microsoft.com/office/drawing/2014/main" id="{9F08DF74-238C-9073-1522-54C6B39AB5F3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Google Shape;102;p2">
            <a:extLst>
              <a:ext uri="{FF2B5EF4-FFF2-40B4-BE49-F238E27FC236}">
                <a16:creationId xmlns:a16="http://schemas.microsoft.com/office/drawing/2014/main" id="{92B34A29-70DB-0172-C890-5E355A3C66EE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1. Summary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FF712513-FC6B-0394-BE94-BD6FA584D466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Google Shape;92;p1">
            <a:extLst>
              <a:ext uri="{FF2B5EF4-FFF2-40B4-BE49-F238E27FC236}">
                <a16:creationId xmlns:a16="http://schemas.microsoft.com/office/drawing/2014/main" id="{2F4A3070-AD69-96C2-8039-2626E5B048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F1CCC0-1626-4345-F4D7-A3CC2416B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D7D1-0B19-F66A-84F8-B80017D8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 txBox="1"/>
          <p:nvPr/>
        </p:nvSpPr>
        <p:spPr>
          <a:xfrm>
            <a:off x="939332" y="1189703"/>
            <a:ext cx="2777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문제 정의</a:t>
            </a:r>
            <a:r>
              <a:rPr lang="en-US" altLang="ko-KR" dirty="0">
                <a:latin typeface="+mj-ea"/>
                <a:ea typeface="+mj-ea"/>
              </a:rPr>
              <a:t>(Problem Definition)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38DA6E6D-E7BA-305C-C09E-8185DC29649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69F5F16A-E189-D103-8849-37E8D603F1C8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2.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(Problem Definition)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C68CEE-9277-FB0E-5D76-605741218C00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DD13D667-F1EF-84F5-EED9-A9EDD3C109ED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E8D2E638-900C-0A23-9832-99EFC1069729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5133C3B-FA3E-F0AB-0179-24B10C81060A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61296DF9-B7FF-0591-294E-C089D51449C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1F100A-A05D-DBAD-2AD7-53EFD88E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8680" y="1682496"/>
            <a:ext cx="3413759" cy="914400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3" y="1764792"/>
            <a:ext cx="3121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7569D"/>
                </a:solidFill>
                <a:latin typeface="Pretendard"/>
                <a:ea typeface="Pretendard"/>
              </a:rPr>
              <a:t>1.13조 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2093976"/>
            <a:ext cx="31211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보이스피싱 피해액 (’25.1~11월)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2331720"/>
            <a:ext cx="31211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전년 동기 대비 +56%  |  금융위·경찰청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5320" y="1682496"/>
            <a:ext cx="3413759" cy="914400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1624" y="1764792"/>
            <a:ext cx="3121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7569D"/>
                </a:solidFill>
                <a:latin typeface="Pretendard"/>
                <a:ea typeface="Pretendard"/>
              </a:rPr>
              <a:t>39,121건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1624" y="2093976"/>
            <a:ext cx="31211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전세사기 피해자 누적 결정 (’26 기준)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1624" y="2331720"/>
            <a:ext cx="31211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HUG 사고액 ’24년 4.49조 원(역대 최대)  |  국토부·HUG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960" y="1682496"/>
            <a:ext cx="3413759" cy="914400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8264" y="1764792"/>
            <a:ext cx="3121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7569D"/>
                </a:solidFill>
                <a:latin typeface="Pretendard"/>
                <a:ea typeface="Pretendard"/>
              </a:rPr>
              <a:t>42.7만 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8264" y="2093976"/>
            <a:ext cx="31211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취약 자영업자 (’24말 · 13.7%)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8264" y="2331720"/>
            <a:ext cx="31211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취약차주 연체율 11.16%  |  한국은행 금융안정상황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2724912"/>
            <a:ext cx="5166359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3" y="2798064"/>
            <a:ext cx="487375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1F3A"/>
                </a:solidFill>
                <a:latin typeface="Pretendard"/>
                <a:ea typeface="Pretendard"/>
              </a:rPr>
              <a:t>보이스피싱 피해액 추이 (억 원)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996695" y="3035808"/>
          <a:ext cx="4910327" cy="120700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1014983" y="4297680"/>
            <a:ext cx="48737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출처: 경찰청 국가수사본부 발표 (2025.7 보도) · 2024년 1인당 피해액 5,290만 원으로 2배 증가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59" y="2724912"/>
            <a:ext cx="5166359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5664" y="2798064"/>
            <a:ext cx="487375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1F3A"/>
                </a:solidFill>
                <a:latin typeface="Pretendard"/>
                <a:ea typeface="Pretendard"/>
              </a:rPr>
              <a:t>전세사기 피해자 누적 결정 건수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6437375" y="3035808"/>
          <a:ext cx="4910327" cy="120700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6455664" y="4297680"/>
            <a:ext cx="48737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출처: 국토교통부 전세사기피해지원위원회 결정 현황 (보도자료 ’25.8 / ’25.10 / ’25.11 / ’26.5)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4681728"/>
            <a:ext cx="10607040" cy="877824"/>
          </a:xfrm>
          <a:prstGeom prst="roundRect">
            <a:avLst>
              <a:gd name="adj" fmla="val 10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4791456"/>
            <a:ext cx="326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A9D6"/>
                </a:solidFill>
                <a:latin typeface="Pretendard"/>
                <a:ea typeface="Pretendard"/>
              </a:rPr>
              <a:t>누가 겪는 문제인가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5029200"/>
            <a:ext cx="326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DB1CE"/>
                </a:solidFill>
                <a:latin typeface="Pretendard"/>
                <a:ea typeface="Pretendard"/>
              </a:rPr>
              <a:t>지역 소상공인 · 전세 계약을 앞둔 청년 · 고령 고객,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9DB1CE"/>
                </a:solidFill>
                <a:latin typeface="Pretendard"/>
                <a:ea typeface="Pretendard"/>
              </a:rPr>
              <a:t>그리고 이들을 담당하는 JB RM · 심사 · 준법 담당자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41520" y="4791456"/>
            <a:ext cx="326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A9D6"/>
                </a:solidFill>
                <a:latin typeface="Pretendard"/>
                <a:ea typeface="Pretendard"/>
              </a:rPr>
              <a:t>무엇이 문제인가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1520" y="5029200"/>
            <a:ext cx="326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DB1CE"/>
                </a:solidFill>
                <a:latin typeface="Pretendard"/>
                <a:ea typeface="Pretendard"/>
              </a:rPr>
              <a:t>기사 · 사기 경보 · 시세 · 등기 · 상담기록이 흩어져 있어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9DB1CE"/>
                </a:solidFill>
                <a:latin typeface="Pretendard"/>
                <a:ea typeface="Pretendard"/>
              </a:rPr>
              <a:t>위험 신호를 조기에 모아서 판단하고 행동하기 어려움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85759" y="4791456"/>
            <a:ext cx="326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A9D6"/>
                </a:solidFill>
                <a:latin typeface="Pretendard"/>
                <a:ea typeface="Pretendard"/>
              </a:rPr>
              <a:t>해결 후 기대 변화 (KPI)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85759" y="5029200"/>
            <a:ext cx="326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DB1CE"/>
                </a:solidFill>
                <a:latin typeface="Pretendard"/>
                <a:ea typeface="Pretendard"/>
              </a:rPr>
              <a:t>위험 인지→대응 착수 시간 50% 단축 · 판단 100% 근거 연결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9DB1CE"/>
                </a:solidFill>
                <a:latin typeface="Pretendard"/>
                <a:ea typeface="Pretendard"/>
              </a:rPr>
              <a:t>고객 대상 행동 100% 사람 승인 통과 · 사후관리 누락 0건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1803-0BCB-CDD6-42D3-235F3A36E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66A8299-6D51-DAF9-3F23-456F5D4538BD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76D45-1367-695A-8B79-BFC4D4D7BA5B}"/>
              </a:ext>
            </a:extLst>
          </p:cNvPr>
          <p:cNvSpPr txBox="1"/>
          <p:nvPr/>
        </p:nvSpPr>
        <p:spPr>
          <a:xfrm>
            <a:off x="939332" y="1189703"/>
            <a:ext cx="33868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제안 솔루션 개요 </a:t>
            </a:r>
            <a:r>
              <a:rPr lang="en-US" altLang="ko-KR" dirty="0">
                <a:latin typeface="+mj-ea"/>
                <a:ea typeface="+mj-ea"/>
              </a:rPr>
              <a:t>(Solution Overview)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1D14950D-817F-F6EB-EF9A-D1112359DB87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8D5AACD-782A-F75A-7057-CC33540D6F74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3.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제안 솔루션 개요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(Solution Overview)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233CF2AF-1B9B-3631-BC06-AD7510F434F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3BB4E210-05A3-8500-833B-493E20BFD22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159738A-FC36-C4DB-30D8-914020758657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857A5BB-5018-1C11-40B9-97290B090E61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3A9837C3-DD0A-3D3B-B638-64B3302775E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0AE3F27-92C5-02B1-FF71-7807DD32A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1664208"/>
            <a:ext cx="10607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시스템 아키텍처  </a:t>
            </a:r>
            <a:r>
              <a:rPr sz="900" b="0">
                <a:solidFill>
                  <a:srgbClr val="637797"/>
                </a:solidFill>
                <a:latin typeface="Pretendard"/>
                <a:ea typeface="Pretendard"/>
              </a:rPr>
              <a:t>— UI · 케이스 런타임 · 에이전트 메시 · 스킬 저장소 · 승인 게이트 · 감사 기록 (GitHub 07_아키텍처 Mermaid 원본)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1920240"/>
            <a:ext cx="4983480" cy="3529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ystem-t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953" y="1993392"/>
            <a:ext cx="4262932" cy="3383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26480" y="1920240"/>
            <a:ext cx="5349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F1F3A"/>
                </a:solidFill>
                <a:latin typeface="Pretendard"/>
                <a:ea typeface="Pretendard"/>
              </a:rPr>
              <a:t>운영 루프 — 케이스가 흐르는 4단계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157984"/>
            <a:ext cx="5349240" cy="34747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99632" y="2226564"/>
            <a:ext cx="210312" cy="210312"/>
          </a:xfrm>
          <a:prstGeom prst="ellipse">
            <a:avLst/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176272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F1F3A"/>
                </a:solidFill>
                <a:latin typeface="Pretendard"/>
                <a:ea typeface="Pretendard"/>
              </a:rPr>
              <a:t>케이스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176272"/>
            <a:ext cx="3611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고객 위험을 케이스로 등록 (RM 또는 정기 스캔)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2560320"/>
            <a:ext cx="5349240" cy="34747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99632" y="2628900"/>
            <a:ext cx="210312" cy="210312"/>
          </a:xfrm>
          <a:prstGeom prst="ellipse">
            <a:avLst/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578608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F1F3A"/>
                </a:solidFill>
                <a:latin typeface="Pretendard"/>
                <a:ea typeface="Pretendard"/>
              </a:rPr>
              <a:t>에이전트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2578608"/>
            <a:ext cx="3611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스킬을 장착하고 근거 수집 · 위험 판단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2962656"/>
            <a:ext cx="5349240" cy="34747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99632" y="3031236"/>
            <a:ext cx="210312" cy="210312"/>
          </a:xfrm>
          <a:prstGeom prst="ellipse">
            <a:avLst/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298094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F1F3A"/>
                </a:solidFill>
                <a:latin typeface="Pretendard"/>
                <a:ea typeface="Pretendard"/>
              </a:rPr>
              <a:t>사람 승인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2980944"/>
            <a:ext cx="3611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조치 초안을 사람이 검토 — 승인 / 반려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3364992"/>
            <a:ext cx="5349240" cy="34747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199632" y="3433572"/>
            <a:ext cx="210312" cy="210312"/>
          </a:xfrm>
          <a:prstGeom prst="ellipse">
            <a:avLst/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338328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F1F3A"/>
                </a:solidFill>
                <a:latin typeface="Pretendard"/>
                <a:ea typeface="Pretendard"/>
              </a:rPr>
              <a:t>감사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3383280"/>
            <a:ext cx="36118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모든 판단 · 행동 · 승인이 활동 이력으로 남음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858768"/>
            <a:ext cx="5349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F1F3A"/>
                </a:solidFill>
                <a:latin typeface="Pretendard"/>
                <a:ea typeface="Pretendard"/>
              </a:rPr>
              <a:t>승인 · 통제 흐름  </a:t>
            </a:r>
            <a:r>
              <a:rPr sz="850" b="0">
                <a:solidFill>
                  <a:srgbClr val="637797"/>
                </a:solidFill>
                <a:latin typeface="Pretendard"/>
                <a:ea typeface="Pretendard"/>
              </a:rPr>
              <a:t>— 승인 레벨 L0–L4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4096511"/>
            <a:ext cx="5349240" cy="136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approv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142231"/>
            <a:ext cx="5257800" cy="1254844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868680" y="5541264"/>
            <a:ext cx="10607040" cy="274320"/>
          </a:xfrm>
          <a:prstGeom prst="roundRect">
            <a:avLst>
              <a:gd name="adj" fmla="val 50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5591555"/>
            <a:ext cx="10058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CA9D6"/>
                </a:solidFill>
                <a:latin typeface="Pretendard"/>
                <a:ea typeface="Pretendard"/>
              </a:rPr>
              <a:t>설계 원칙  </a:t>
            </a:r>
            <a:r>
              <a:rPr sz="850" b="0">
                <a:solidFill>
                  <a:srgbClr val="EDF4FB"/>
                </a:solidFill>
                <a:latin typeface="Pretendard"/>
                <a:ea typeface="Pretendard"/>
              </a:rPr>
              <a:t>스킬 장착형 멀티 에이전트(기능 추가 = 스킬 추가) · 승인 우선 자동화(완전 자동 발송 금지) · 근거와 감사 기록은 일급 객체</a:t>
            </a:r>
          </a:p>
        </p:txBody>
      </p:sp>
    </p:spTree>
    <p:extLst>
      <p:ext uri="{BB962C8B-B14F-4D97-AF65-F5344CB8AC3E}">
        <p14:creationId xmlns:p14="http://schemas.microsoft.com/office/powerpoint/2010/main" val="802282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6C246-B742-4CC5-4DE1-3D3A549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7D249F0-0136-43E2-7E93-8F61EA5FFA04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9B714-0CA5-94B7-0D36-144E9F422B5C}"/>
              </a:ext>
            </a:extLst>
          </p:cNvPr>
          <p:cNvSpPr txBox="1"/>
          <p:nvPr/>
        </p:nvSpPr>
        <p:spPr>
          <a:xfrm>
            <a:off x="939332" y="1189703"/>
            <a:ext cx="2796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주요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기능 정의 </a:t>
            </a:r>
            <a:r>
              <a:rPr lang="en-US" altLang="ko-KR" dirty="0">
                <a:latin typeface="+mj-ea"/>
                <a:ea typeface="+mj-ea"/>
              </a:rPr>
              <a:t>(Key Features)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21EE5127-5102-7956-BFA7-7895865F1915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7A9B20E-0365-DB76-C6A1-A82BF7552CE2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4.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기능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(Key Features)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B1350C5-8319-6983-B16E-22480553B209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7E7F1CC-8A52-054C-1D46-3762F4542CE9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5B08C8C1-2BAB-D8AA-20BE-0327E50B28A8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CE2EA03-7386-45E6-06B4-031FC4A4B11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27C3F581-9604-F61B-A136-EF77720F32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7DE36F9-BC8E-801E-6E7C-0D03E6A9F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1664208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실제 동작하는 MVP 콘솔</a:t>
            </a:r>
          </a:p>
        </p:txBody>
      </p:sp>
      <p:pic>
        <p:nvPicPr>
          <p:cNvPr id="19" name="Picture 18" descr="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938528"/>
            <a:ext cx="4297680" cy="2417445"/>
          </a:xfrm>
          <a:prstGeom prst="rect">
            <a:avLst/>
          </a:prstGeom>
          <a:ln w="12700">
            <a:solidFill>
              <a:srgbClr val="D6E3F1"/>
            </a:solidFill>
          </a:ln>
          <a:effectLst/>
        </p:spPr>
      </p:pic>
      <p:sp>
        <p:nvSpPr>
          <p:cNvPr id="20" name="TextBox 19"/>
          <p:cNvSpPr txBox="1"/>
          <p:nvPr/>
        </p:nvSpPr>
        <p:spPr>
          <a:xfrm>
            <a:off x="868680" y="4392549"/>
            <a:ext cx="4297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대시보드 — 한 줄 지시 실행 · 실시간 실행 · 처리 흐름 상태 · 우측 케이스 상세</a:t>
            </a:r>
          </a:p>
        </p:txBody>
      </p:sp>
      <p:pic>
        <p:nvPicPr>
          <p:cNvPr id="21" name="Picture 20" descr="org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12005"/>
            <a:ext cx="2084832" cy="1172718"/>
          </a:xfrm>
          <a:prstGeom prst="rect">
            <a:avLst/>
          </a:prstGeom>
          <a:ln w="12700">
            <a:solidFill>
              <a:srgbClr val="D6E3F1"/>
            </a:solidFill>
          </a:ln>
          <a:effectLst/>
        </p:spPr>
      </p:pic>
      <p:pic>
        <p:nvPicPr>
          <p:cNvPr id="22" name="Picture 21" descr="skil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81528" y="4612005"/>
            <a:ext cx="2084832" cy="1172718"/>
          </a:xfrm>
          <a:prstGeom prst="rect">
            <a:avLst/>
          </a:prstGeom>
          <a:ln w="12700">
            <a:solidFill>
              <a:srgbClr val="D6E3F1"/>
            </a:solidFill>
          </a:ln>
          <a:effectLst/>
        </p:spPr>
      </p:pic>
      <p:sp>
        <p:nvSpPr>
          <p:cNvPr id="23" name="TextBox 22"/>
          <p:cNvSpPr txBox="1"/>
          <p:nvPr/>
        </p:nvSpPr>
        <p:spPr>
          <a:xfrm>
            <a:off x="868680" y="5812155"/>
            <a:ext cx="2084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에이전트 조직도 (14개)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81528" y="5812155"/>
            <a:ext cx="2084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스킬 저장소 (25종)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1664208"/>
            <a:ext cx="5989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핵심 기능 6가지 — 모두 MVP에서 동작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1938528"/>
            <a:ext cx="2921508" cy="107899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94676" y="201168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E2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00" b="1">
                <a:solidFill>
                  <a:srgbClr val="0F8F72"/>
                </a:solidFill>
                <a:latin typeface="Pretendard"/>
                <a:ea typeface="Pretendard"/>
              </a:rPr>
              <a:t>구현 완료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2002536"/>
            <a:ext cx="20528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케이스 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2249424"/>
            <a:ext cx="27020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위험 케이스를 칸반/큐로 관리, 클릭 시 근거·담당 에이전트 연동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2743200"/>
            <a:ext cx="27020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7569D"/>
                </a:solidFill>
                <a:latin typeface="Pretendard"/>
                <a:ea typeface="Pretendard"/>
              </a:rPr>
              <a:t>해결: </a:t>
            </a: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흩어진 고객 위험의 단일 작업 화면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54212" y="1938528"/>
            <a:ext cx="2921508" cy="107899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762488" y="201168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E2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00" b="1">
                <a:solidFill>
                  <a:srgbClr val="0F8F72"/>
                </a:solidFill>
                <a:latin typeface="Pretendard"/>
                <a:ea typeface="Pretendard"/>
              </a:rPr>
              <a:t>구현 완료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3940" y="2002536"/>
            <a:ext cx="20528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실행 이력(에이전트 로그)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3940" y="2249424"/>
            <a:ext cx="27020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실행/지시마다 로그 생성, 상태 전이 자동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3940" y="2743200"/>
            <a:ext cx="27020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7569D"/>
                </a:solidFill>
                <a:latin typeface="Pretendard"/>
                <a:ea typeface="Pretendard"/>
              </a:rPr>
              <a:t>해결: </a:t>
            </a: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AI 판단 과정의 투명한 추적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0" y="3127248"/>
            <a:ext cx="2921508" cy="107899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94676" y="320040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E2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00" b="1">
                <a:solidFill>
                  <a:srgbClr val="0F8F72"/>
                </a:solidFill>
                <a:latin typeface="Pretendard"/>
                <a:ea typeface="Pretendard"/>
              </a:rPr>
              <a:t>구현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6128" y="3191256"/>
            <a:ext cx="20528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승인 (사람 검토)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3438144"/>
            <a:ext cx="27020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승인/반려 클릭으로 상태·감사·큐 숫자 즉시 갱신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3931920"/>
            <a:ext cx="27020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7569D"/>
                </a:solidFill>
                <a:latin typeface="Pretendard"/>
                <a:ea typeface="Pretendard"/>
              </a:rPr>
              <a:t>해결: </a:t>
            </a: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고객 대상 행동의 사람 통제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54212" y="3127248"/>
            <a:ext cx="2921508" cy="107899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62488" y="320040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E2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00" b="1">
                <a:solidFill>
                  <a:srgbClr val="0F8F72"/>
                </a:solidFill>
                <a:latin typeface="Pretendard"/>
                <a:ea typeface="Pretendard"/>
              </a:rPr>
              <a:t>구현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63940" y="3191256"/>
            <a:ext cx="20528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전세 보호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3940" y="3438144"/>
            <a:ext cx="27020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전세가율·권리관계·자산 리스크·체크리스트·은행 연계 5대 진단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3940" y="3931920"/>
            <a:ext cx="27020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7569D"/>
                </a:solidFill>
                <a:latin typeface="Pretendard"/>
                <a:ea typeface="Pretendard"/>
              </a:rPr>
              <a:t>해결: </a:t>
            </a: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전세사기 계약 전 예방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0" y="4315968"/>
            <a:ext cx="2921508" cy="107899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94676" y="438912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E2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00" b="1">
                <a:solidFill>
                  <a:srgbClr val="0F8F72"/>
                </a:solidFill>
                <a:latin typeface="Pretendard"/>
                <a:ea typeface="Pretendard"/>
              </a:rPr>
              <a:t>구현 완료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6128" y="4379976"/>
            <a:ext cx="20528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스킬 저장소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4626864"/>
            <a:ext cx="27020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25종 스킬에 위험도·승인 정책 부여, 에이전트에 장착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96128" y="5120640"/>
            <a:ext cx="27020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7569D"/>
                </a:solidFill>
                <a:latin typeface="Pretendard"/>
                <a:ea typeface="Pretendard"/>
              </a:rPr>
              <a:t>해결: </a:t>
            </a: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기능 확장과 내부통제의 단위화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54212" y="4315968"/>
            <a:ext cx="2921508" cy="1078992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762488" y="4389120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E2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00" b="1">
                <a:solidFill>
                  <a:srgbClr val="0F8F72"/>
                </a:solidFill>
                <a:latin typeface="Pretendard"/>
                <a:ea typeface="Pretendard"/>
              </a:rPr>
              <a:t>구현 완료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63940" y="4379976"/>
            <a:ext cx="20528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F1F3A"/>
                </a:solidFill>
                <a:latin typeface="Pretendard"/>
                <a:ea typeface="Pretendard"/>
              </a:rPr>
              <a:t>활동 이력(감사)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3940" y="4626864"/>
            <a:ext cx="270205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근거→판단→행동→승인 전 과정을 시간순 기록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63940" y="5120640"/>
            <a:ext cx="27020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7569D"/>
                </a:solidFill>
                <a:latin typeface="Pretendard"/>
                <a:ea typeface="Pretendard"/>
              </a:rPr>
              <a:t>해결: </a:t>
            </a: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금융권 감사·설명가능성 충족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0" y="5504688"/>
            <a:ext cx="5989320" cy="384048"/>
          </a:xfrm>
          <a:prstGeom prst="roundRect">
            <a:avLst>
              <a:gd name="adj" fmla="val 50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0" y="5596128"/>
            <a:ext cx="56235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CA9D6"/>
                </a:solidFill>
                <a:latin typeface="Pretendard"/>
                <a:ea typeface="Pretendard"/>
              </a:rPr>
              <a:t>MVP 범위  </a:t>
            </a:r>
            <a:r>
              <a:rPr sz="850" b="0">
                <a:solidFill>
                  <a:srgbClr val="EDF4FB"/>
                </a:solidFill>
                <a:latin typeface="Pretendard"/>
                <a:ea typeface="Pretendard"/>
              </a:rPr>
              <a:t>판단(위험 진단) → 행동(조치 초안) → 검증(승인·감사) — github.com/LSB-afk/JB-Fin-AI-Challenge</a:t>
            </a:r>
          </a:p>
        </p:txBody>
      </p:sp>
    </p:spTree>
    <p:extLst>
      <p:ext uri="{BB962C8B-B14F-4D97-AF65-F5344CB8AC3E}">
        <p14:creationId xmlns:p14="http://schemas.microsoft.com/office/powerpoint/2010/main" val="160441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D8DB-3443-A102-9C42-2C56691F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743A085-6411-0EFC-A699-01660D683A67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6FF1F-0E89-66A7-7227-BC7AA6E81C3C}"/>
              </a:ext>
            </a:extLst>
          </p:cNvPr>
          <p:cNvSpPr txBox="1"/>
          <p:nvPr/>
        </p:nvSpPr>
        <p:spPr>
          <a:xfrm>
            <a:off x="939332" y="1189703"/>
            <a:ext cx="3966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5. </a:t>
            </a:r>
            <a:r>
              <a:rPr lang="ko-KR" altLang="en-US" dirty="0">
                <a:latin typeface="+mj-ea"/>
                <a:ea typeface="+mj-ea"/>
              </a:rPr>
              <a:t>데이터 및 기술 활용 </a:t>
            </a:r>
            <a:r>
              <a:rPr lang="en-US" altLang="ko-KR" dirty="0">
                <a:latin typeface="+mj-ea"/>
                <a:ea typeface="+mj-ea"/>
              </a:rPr>
              <a:t>(Data &amp; Tech)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6E9B4B97-E58C-7529-3DC0-F31DEFF65D1B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FA49E26B-9CE5-618A-B798-389BF794A1C3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- 5.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및 기술 활용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(Data &amp; Tech)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079A4C84-B810-1D03-C217-CA40A93EBF16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EFA25AC-315F-E1A0-5965-0ADA362A1ED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3FB278B-321F-4FD4-1029-71569634D73A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298532A-6309-4CFB-816D-A1D013C9D5D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4A83B29B-6384-C7B9-B0DB-6ACE691192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A87DCD-64A0-C1AB-3174-F4C46EFFC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1664208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활용 데이터 — 공개 · 공식 출처 우선, 출처 전부 명시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1920240"/>
            <a:ext cx="54864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1984248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공공 · 공식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1991" y="1984248"/>
            <a:ext cx="2880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HUG 안심전세(시세·전세가율·보증) · 국토교통부 보도자료 · 금융위 보이스피싱 경보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84248"/>
            <a:ext cx="11155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637797"/>
                </a:solidFill>
                <a:latin typeface="Pretendard"/>
                <a:ea typeface="Pretendard"/>
              </a:rPr>
              <a:t>공개 자료 · 출처 표기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2578608"/>
            <a:ext cx="54864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2642616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시장 · 언론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1991" y="2642616"/>
            <a:ext cx="2880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연합뉴스 · 쿠키뉴스 등 지역 경기/금리 부담 기사 (위험 신호 수집 대상)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2642616"/>
            <a:ext cx="11155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637797"/>
                </a:solidFill>
                <a:latin typeface="Pretendard"/>
                <a:ea typeface="Pretendard"/>
              </a:rPr>
              <a:t>링크 단위 근거 연결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3236976"/>
            <a:ext cx="54864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300984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JB 공식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21991" y="3300984"/>
            <a:ext cx="2880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JB금융그룹 계열사 현황 · JB-네이버클라우드 AI 업무협약 (jbfg.com)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300984"/>
            <a:ext cx="11155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637797"/>
                </a:solidFill>
                <a:latin typeface="Pretendard"/>
                <a:ea typeface="Pretendard"/>
              </a:rPr>
              <a:t>사업 연계성 근거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3895344"/>
            <a:ext cx="54864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3959352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내부 운영(목업)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21991" y="3959352"/>
            <a:ext cx="2880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상담 노트 · 케이스 이력 · 승인 기록 — MVP는 가상 데이터로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9784" y="3959352"/>
            <a:ext cx="11155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637797"/>
                </a:solidFill>
                <a:latin typeface="Pretendard"/>
                <a:ea typeface="Pretendard"/>
              </a:rPr>
              <a:t>개인정보 마스킹 전제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1664208"/>
            <a:ext cx="4800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기술 구성 — 현재 MVP와 본선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920240"/>
            <a:ext cx="4800600" cy="2633472"/>
          </a:xfrm>
          <a:prstGeom prst="roundRect">
            <a:avLst>
              <a:gd name="adj" fmla="val 6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1424" y="2029968"/>
            <a:ext cx="45079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CA9D6"/>
                </a:solidFill>
                <a:latin typeface="Pretendard"/>
                <a:ea typeface="Pretendard"/>
              </a:rPr>
              <a:t>현재 MVP  (예선 · 구현 완료)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249424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Vanilla JS/CSS 정적 콘솔 — 외부 의존성 0, 브라우저만으로 시연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459736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상태 모델: 케이스 · 에이전트 실행 · 승인 · 감사 상호 연동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31152" y="2670048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GitHub 공개: github.com/LSB-afk/JB-Fin-AI-Challenge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1424" y="2953512"/>
            <a:ext cx="45079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CA9D6"/>
                </a:solidFill>
                <a:latin typeface="Pretendard"/>
                <a:ea typeface="Pretendard"/>
              </a:rPr>
              <a:t>본선 목표 아키텍처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3172968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LLM — 위험 판단 요약 · 조치 초안 생성 (Claude 등 상용 API)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383279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RAG — HUG·국토부·금융위 공개자료 검색으로 근거 강제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3593591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Rule Engine — 승인 레벨(L0–L4) · 금지 행동 정책 판정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31152" y="3803904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Multi-Agent — 오케스트레이터가 전문 에이전트에 스킬 주입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4014216"/>
            <a:ext cx="43982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· 외부 API — 공공 데이터 우선, 상용 API는 라이선스 검토 후 사용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4718304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기술적 제약과 해결 전략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4956048"/>
            <a:ext cx="3413759" cy="621792"/>
          </a:xfrm>
          <a:prstGeom prst="roundRect">
            <a:avLst>
              <a:gd name="adj" fmla="val 8000"/>
            </a:avLst>
          </a:prstGeom>
          <a:solidFill>
            <a:srgbClr val="EDF7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552" y="5020056"/>
            <a:ext cx="31760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환각(Hallucination)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" y="5212080"/>
            <a:ext cx="31760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모든 판단에 출처 링크 강제 + 확정 표현 금지 + 사람 승인 게이트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65320" y="4956048"/>
            <a:ext cx="3413759" cy="621792"/>
          </a:xfrm>
          <a:prstGeom prst="roundRect">
            <a:avLst>
              <a:gd name="adj" fmla="val 8000"/>
            </a:avLst>
          </a:prstGeom>
          <a:solidFill>
            <a:srgbClr val="EDF7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84191" y="5020056"/>
            <a:ext cx="31760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개인정보 · 내부통제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4191" y="5212080"/>
            <a:ext cx="31760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마스킹 처리 · L0–L4 승인 레벨 · 전 과정 감사 로그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61960" y="4956048"/>
            <a:ext cx="3413759" cy="621792"/>
          </a:xfrm>
          <a:prstGeom prst="roundRect">
            <a:avLst>
              <a:gd name="adj" fmla="val 8000"/>
            </a:avLst>
          </a:prstGeom>
          <a:solidFill>
            <a:srgbClr val="EDF7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80832" y="5020056"/>
            <a:ext cx="31760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7569D"/>
                </a:solidFill>
                <a:latin typeface="Pretendard"/>
                <a:ea typeface="Pretendard"/>
              </a:rPr>
              <a:t>법률 판단 한계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0832" y="5212080"/>
            <a:ext cx="31760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등기·보증은 원문 확인 절차 명시, 특약은 초안만 제공(법무 검토)</a:t>
            </a:r>
          </a:p>
        </p:txBody>
      </p:sp>
    </p:spTree>
    <p:extLst>
      <p:ext uri="{BB962C8B-B14F-4D97-AF65-F5344CB8AC3E}">
        <p14:creationId xmlns:p14="http://schemas.microsoft.com/office/powerpoint/2010/main" val="3147750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D2E15-49DB-DBA2-9F76-5D086ABD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9093888-EE73-841E-FF7E-3153D90098AB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5450A-C406-F66D-7246-8B3CE4B5F9FE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6. </a:t>
            </a:r>
            <a:r>
              <a:rPr lang="ko-KR" altLang="en-US" dirty="0">
                <a:latin typeface="+mj-ea"/>
                <a:ea typeface="+mj-ea"/>
              </a:rPr>
              <a:t>사용자 시나리오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 err="1">
                <a:latin typeface="+mj-ea"/>
                <a:ea typeface="+mj-ea"/>
              </a:rPr>
              <a:t>유즈케이스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(User Scenario)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A66DB5E4-99DB-B891-A402-F82B9BBE8824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BF138AD5-46CB-5ED6-B503-1D82E8C60406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6.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시나리오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ko-KR" altLang="en-US" sz="1300" b="1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유즈케이스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 Scenario)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4F08504B-62BA-7251-2E25-26E6287BEF1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63EA3688-0705-1D30-C6B6-8371FE7270DF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3A377AC2-CD2F-4E5E-BFEF-BC152D4D8A94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DE75EC79-02E8-59C5-C459-D64C66C7424C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ADDEC6D0-1DC9-520B-6922-5931B049566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9C5A4A6-1242-C668-4A8A-4203C179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1664208"/>
            <a:ext cx="10607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유스케이스 상세 — 전세 보호 라인  (청년 고객이 전세계약 전에 은행을 통해 위험을 진단받는 흐름)</a:t>
            </a:r>
            <a:r>
              <a:rPr sz="900" b="0">
                <a:solidFill>
                  <a:srgbClr val="637797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19202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D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50" b="1">
                <a:solidFill>
                  <a:srgbClr val="0F1F3A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01368" y="19202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50" b="1">
                <a:solidFill>
                  <a:srgbClr val="FFFFFF"/>
                </a:solidFill>
                <a:latin typeface="Pretendard"/>
                <a:ea typeface="Pretendard"/>
              </a:rPr>
              <a:t>RM(은행)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34056" y="19202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50" b="1">
                <a:solidFill>
                  <a:srgbClr val="EDF4FB"/>
                </a:solidFill>
                <a:latin typeface="Pretendard"/>
                <a:ea typeface="Pretendard"/>
              </a:rPr>
              <a:t>AI 에이전트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66744" y="19202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F8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750" b="1">
                <a:solidFill>
                  <a:srgbClr val="FFFFFF"/>
                </a:solidFill>
                <a:latin typeface="Pretendard"/>
                <a:ea typeface="Pretendard"/>
              </a:rPr>
              <a:t>검증·승인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EDF7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1F3A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전세계약 전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상담 신청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25257" y="2651760"/>
            <a:ext cx="17373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412709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85861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5861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케이스 생성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JBG-201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769287" y="2651760"/>
            <a:ext cx="17373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956739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9891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DF4FB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9891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EDF4FB"/>
                </a:solidFill>
                <a:latin typeface="Pretendard"/>
                <a:ea typeface="Pretendard"/>
              </a:rPr>
              <a:t>전세가율·권리관계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EDF4FB"/>
                </a:solidFill>
                <a:latin typeface="Pretendard"/>
                <a:ea typeface="Pretendard"/>
              </a:rPr>
              <a:t>·자산 리스크 진단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13317" y="2651760"/>
            <a:ext cx="17373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500769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3921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DF4FB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3921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EDF4FB"/>
                </a:solidFill>
                <a:latin typeface="Pretendard"/>
                <a:ea typeface="Pretendard"/>
              </a:rPr>
              <a:t>체크리스트 +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EDF4FB"/>
                </a:solidFill>
                <a:latin typeface="Pretendard"/>
                <a:ea typeface="Pretendard"/>
              </a:rPr>
              <a:t>특약 초안 생성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7346" y="2651760"/>
            <a:ext cx="17373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44798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0F8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7950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7950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준법 검토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표현·법률 리스크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01376" y="2651760"/>
            <a:ext cx="17373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588828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1980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980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RM 승인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(사람 결정)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945406" y="2651760"/>
            <a:ext cx="17373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132858" y="2231136"/>
            <a:ext cx="1342861" cy="841248"/>
          </a:xfrm>
          <a:prstGeom prst="roundRect">
            <a:avLst>
              <a:gd name="adj" fmla="val 12000"/>
            </a:avLst>
          </a:prstGeom>
          <a:solidFill>
            <a:srgbClr val="EDF7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06010" y="2286000"/>
            <a:ext cx="119655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1F3A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06010" y="2487168"/>
            <a:ext cx="119655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안전 계약 가이드</a:t>
            </a:r>
          </a:p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+ 대출·보증 상담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3118103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7569D"/>
                </a:solidFill>
                <a:latin typeface="Pretendard"/>
                <a:ea typeface="Pretendard"/>
              </a:rPr>
              <a:t>안전 정책: </a:t>
            </a: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법률 확정 표현 금지 · 등기/보증은 원문 확인 · 특약은 초안만 · 은행 연계는 고객 동의 + RM 승인 후 진행</a:t>
            </a:r>
          </a:p>
        </p:txBody>
      </p:sp>
      <p:pic>
        <p:nvPicPr>
          <p:cNvPr id="51" name="Picture 50" descr="jeon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46703"/>
            <a:ext cx="3840480" cy="2160270"/>
          </a:xfrm>
          <a:prstGeom prst="rect">
            <a:avLst/>
          </a:prstGeom>
          <a:ln w="12700">
            <a:solidFill>
              <a:srgbClr val="D6E3F1"/>
            </a:solidFill>
          </a:ln>
          <a:effectLst/>
        </p:spPr>
      </p:pic>
      <p:sp>
        <p:nvSpPr>
          <p:cNvPr id="52" name="TextBox 51"/>
          <p:cNvSpPr txBox="1"/>
          <p:nvPr/>
        </p:nvSpPr>
        <p:spPr>
          <a:xfrm>
            <a:off x="868680" y="5534406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전세 보호 화면 — 5대 진단과 케이스(JBG-201) 연동</a:t>
            </a:r>
          </a:p>
        </p:txBody>
      </p:sp>
      <p:pic>
        <p:nvPicPr>
          <p:cNvPr id="53" name="Picture 52" descr="ru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493008"/>
            <a:ext cx="3291840" cy="1851660"/>
          </a:xfrm>
          <a:prstGeom prst="rect">
            <a:avLst/>
          </a:prstGeom>
          <a:ln w="12700">
            <a:solidFill>
              <a:srgbClr val="D6E3F1"/>
            </a:solidFill>
          </a:ln>
          <a:effectLst/>
        </p:spPr>
      </p:pic>
      <p:sp>
        <p:nvSpPr>
          <p:cNvPr id="54" name="TextBox 53"/>
          <p:cNvSpPr txBox="1"/>
          <p:nvPr/>
        </p:nvSpPr>
        <p:spPr>
          <a:xfrm>
            <a:off x="4937760" y="5372100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실행 이력 — 에이전트 로그와 상태 전이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58200" y="3346703"/>
            <a:ext cx="3017519" cy="2361438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86216" y="3428999"/>
            <a:ext cx="27614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F1F3A"/>
                </a:solidFill>
                <a:latin typeface="Pretendard"/>
                <a:ea typeface="Pretendard"/>
              </a:rPr>
              <a:t>대표 케이스 — 전주 카페 자금압박 케어 (JBG-104)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86216" y="3730752"/>
            <a:ext cx="27614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7569D"/>
                </a:solidFill>
                <a:latin typeface="Pretendard"/>
                <a:ea typeface="Pretendard"/>
              </a:rPr>
              <a:t>1. </a:t>
            </a: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전주 카페 케이스에 매출 둔화 + 금리 부담 신호 감지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86216" y="4160520"/>
            <a:ext cx="27614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7569D"/>
                </a:solidFill>
                <a:latin typeface="Pretendard"/>
                <a:ea typeface="Pretendard"/>
              </a:rPr>
              <a:t>2. </a:t>
            </a: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상환 위험 분류 → 정책금융·서류 체크리스트 생성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86216" y="4590288"/>
            <a:ext cx="27614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7569D"/>
                </a:solidFill>
                <a:latin typeface="Pretendard"/>
                <a:ea typeface="Pretendard"/>
              </a:rPr>
              <a:t>3. </a:t>
            </a: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콜백 초안 작성 → 준법 검토 → RM 승인 후 안내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86216" y="5020055"/>
            <a:ext cx="27614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7569D"/>
                </a:solidFill>
                <a:latin typeface="Pretendard"/>
                <a:ea typeface="Pretendard"/>
              </a:rPr>
              <a:t>4. </a:t>
            </a:r>
            <a:r>
              <a:rPr sz="800" b="0">
                <a:solidFill>
                  <a:srgbClr val="0F1F3A"/>
                </a:solidFill>
                <a:latin typeface="Pretendard"/>
                <a:ea typeface="Pretendard"/>
              </a:rPr>
              <a:t>전 과정 감사 기록 — 누락·책임소재 문제 해소</a:t>
            </a:r>
          </a:p>
        </p:txBody>
      </p:sp>
    </p:spTree>
    <p:extLst>
      <p:ext uri="{BB962C8B-B14F-4D97-AF65-F5344CB8AC3E}">
        <p14:creationId xmlns:p14="http://schemas.microsoft.com/office/powerpoint/2010/main" val="94238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D1B5-3FFF-C59F-69EE-822AEA56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D838C0B-5529-7B58-FED5-6071DAD928C6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AB4B5-2738-A943-FE29-A76A05493367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7. </a:t>
            </a:r>
            <a:r>
              <a:rPr lang="ko-KR" altLang="en-US" dirty="0">
                <a:latin typeface="+mj-ea"/>
                <a:ea typeface="+mj-ea"/>
              </a:rPr>
              <a:t>기대 효과 및 향후 확장성 </a:t>
            </a:r>
            <a:r>
              <a:rPr lang="en-US" altLang="ko-KR" dirty="0">
                <a:latin typeface="+mj-ea"/>
                <a:ea typeface="+mj-ea"/>
              </a:rPr>
              <a:t>(Expected Impact)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E9953E83-E407-B61E-5E64-17F3EA50FCB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092B5F58-4C29-C5F8-0720-9DFB3E434D6A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7.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 효과 및 향후 확장성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(Expected Impact)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B426FE-2A85-BFED-59A8-9822F9722ABB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" name="Google Shape;99;p2">
            <a:extLst>
              <a:ext uri="{FF2B5EF4-FFF2-40B4-BE49-F238E27FC236}">
                <a16:creationId xmlns:a16="http://schemas.microsoft.com/office/drawing/2014/main" id="{4BB48182-34C6-3BEE-3AA6-D59D120B8674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60DD28D2-AA4F-BDB2-A975-8313F18BD5AD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A38C2A3A-1116-CB84-87A3-7D297146A592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1FC3F817-B0A9-AE3C-6E77-6617FE62666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4CF8A7C-3BAD-7322-7C02-7E75424A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8680" y="1682496"/>
            <a:ext cx="2514600" cy="1024128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1764792"/>
            <a:ext cx="22768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7569D"/>
                </a:solidFill>
                <a:latin typeface="Pretendard"/>
                <a:ea typeface="Pretendard"/>
              </a:rPr>
              <a:t>50%↓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2084832"/>
            <a:ext cx="2276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F1F3A"/>
                </a:solidFill>
                <a:latin typeface="Pretendard"/>
                <a:ea typeface="Pretendard"/>
              </a:rPr>
              <a:t>위험 인지→대응 착수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2304288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케이스 화면 하나로 원인·근거·다음 행동 파악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1682496"/>
            <a:ext cx="2514600" cy="1024128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5032" y="1764792"/>
            <a:ext cx="22768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7569D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2084832"/>
            <a:ext cx="2276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F1F3A"/>
                </a:solidFill>
                <a:latin typeface="Pretendard"/>
                <a:ea typeface="Pretendard"/>
              </a:rPr>
              <a:t>판단의 근거 연결률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5032" y="2304288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모든 판단에 출처 링크 또는 내부 이벤트 연결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682496"/>
            <a:ext cx="2514600" cy="1024128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1764792"/>
            <a:ext cx="22768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7569D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084832"/>
            <a:ext cx="2276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F1F3A"/>
                </a:solidFill>
                <a:latin typeface="Pretendard"/>
                <a:ea typeface="Pretendard"/>
              </a:rPr>
              <a:t>고객 대상 행동 승인 통과율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2304288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승인 게이트 없이는 외부 안내 불가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1682496"/>
            <a:ext cx="2514600" cy="1024128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992" y="1764792"/>
            <a:ext cx="22768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7569D"/>
                </a:solidFill>
                <a:latin typeface="Pretendard"/>
                <a:ea typeface="Pretendard"/>
              </a:rPr>
              <a:t>0건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2084832"/>
            <a:ext cx="2276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F1F3A"/>
                </a:solidFill>
                <a:latin typeface="Pretendard"/>
                <a:ea typeface="Pretendard"/>
              </a:rPr>
              <a:t>사후관리 누락 (후속 태스크 자동 등록)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79992" y="2304288"/>
            <a:ext cx="2276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고위험 사기 케이스 외부 발송도 이상거래 탐지·차단 에이전트가 자동 차단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2743200"/>
            <a:ext cx="106070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37797"/>
                </a:solidFill>
                <a:latin typeface="Pretendard"/>
                <a:ea typeface="Pretendard"/>
              </a:rPr>
              <a:t>* MVP 운영 목표 지표 — 본선에서 실데이터 PoC로 측정·검증 예정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3035808"/>
            <a:ext cx="6035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발전 경로 — 예선에서 고객 서비스까지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3273552"/>
            <a:ext cx="140588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3273552"/>
            <a:ext cx="1405889" cy="256032"/>
          </a:xfrm>
          <a:prstGeom prst="roundRect">
            <a:avLst>
              <a:gd name="adj" fmla="val 15000"/>
            </a:avLst>
          </a:prstGeom>
          <a:solidFill>
            <a:srgbClr val="0F8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3314700"/>
            <a:ext cx="12778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예선 (완료)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3602736"/>
            <a:ext cx="12412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정적 MVP 콘솔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시나리오 검증 · GitHub 공개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279141" y="3749040"/>
            <a:ext cx="128017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411729" y="3273552"/>
            <a:ext cx="140588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11729" y="3273552"/>
            <a:ext cx="1405889" cy="256032"/>
          </a:xfrm>
          <a:prstGeom prst="roundRect">
            <a:avLst>
              <a:gd name="adj" fmla="val 15000"/>
            </a:avLst>
          </a:prstGeom>
          <a:solidFill>
            <a:srgbClr val="0B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5737" y="3314700"/>
            <a:ext cx="12778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본선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94025" y="3602736"/>
            <a:ext cx="12412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LLM · RAG 연동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공공데이터 PoC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822191" y="3749040"/>
            <a:ext cx="12801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954779" y="3273552"/>
            <a:ext cx="140588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954779" y="3273552"/>
            <a:ext cx="1405889" cy="256032"/>
          </a:xfrm>
          <a:prstGeom prst="roundRect">
            <a:avLst>
              <a:gd name="adj" fmla="val 15000"/>
            </a:avLst>
          </a:prstGeom>
          <a:solidFill>
            <a:srgbClr val="123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18787" y="3314700"/>
            <a:ext cx="12778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내부 파일럿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37075" y="3602736"/>
            <a:ext cx="12412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전북은행 RM 부서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승인·감사 정책 검증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365241" y="3749040"/>
            <a:ext cx="128016" cy="0"/>
          </a:xfrm>
          <a:prstGeom prst="line">
            <a:avLst/>
          </a:prstGeom>
          <a:ln w="13970">
            <a:solidFill>
              <a:srgbClr val="6377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497829" y="3273552"/>
            <a:ext cx="140588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E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97829" y="3273552"/>
            <a:ext cx="1405889" cy="256032"/>
          </a:xfrm>
          <a:prstGeom prst="roundRect">
            <a:avLst>
              <a:gd name="adj" fmla="val 15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61838" y="3314700"/>
            <a:ext cx="127787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Pretendard"/>
                <a:ea typeface="Pretendard"/>
              </a:rPr>
              <a:t>고객 서비스화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80125" y="3602736"/>
            <a:ext cx="12412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뱅킹 앱 연계</a:t>
            </a:r>
          </a:p>
          <a:p>
            <a:pPr algn="l">
              <a:spcAft>
                <a:spcPts val="100"/>
              </a:spcAft>
            </a:pPr>
            <a:r>
              <a:rPr sz="750" b="0">
                <a:solidFill>
                  <a:srgbClr val="0F1F3A"/>
                </a:solidFill>
                <a:latin typeface="Pretendard"/>
                <a:ea typeface="Pretendard"/>
              </a:rPr>
              <a:t>전세 보호 우선 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59" y="3035808"/>
            <a:ext cx="4251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1F3A"/>
                </a:solidFill>
                <a:latin typeface="Pretendard"/>
                <a:ea typeface="Pretendard"/>
              </a:rPr>
              <a:t>운영 리스크 대응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59" y="329184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· 환각 · 오판 — </a:t>
            </a: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근거 링크 강제 + 확정 표현 금지 + 사람 승인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59" y="3538728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· 개인정보 · 보안 — </a:t>
            </a: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마스킹 · 내부망 전제 · 접근 권한 분리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59" y="3785616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· 책임소재 · 설명가능성 — </a:t>
            </a: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감사 로그로 판단·승인 주체 전 과정 추적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59" y="4032504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F1F3A"/>
                </a:solidFill>
                <a:latin typeface="Pretendard"/>
                <a:ea typeface="Pretendard"/>
              </a:rPr>
              <a:t>· 저작권 · 라이선스 — </a:t>
            </a:r>
            <a:r>
              <a:rPr sz="800" b="0">
                <a:solidFill>
                  <a:srgbClr val="637797"/>
                </a:solidFill>
                <a:latin typeface="Pretendard"/>
                <a:ea typeface="Pretendard"/>
              </a:rPr>
              <a:t>공공·공식 출처 우선, 기사 등은 링크 인용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8680" y="4370832"/>
            <a:ext cx="10607040" cy="658368"/>
          </a:xfrm>
          <a:prstGeom prst="roundRect">
            <a:avLst>
              <a:gd name="adj" fmla="val 10000"/>
            </a:avLst>
          </a:prstGeom>
          <a:solidFill>
            <a:srgbClr val="091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97280" y="4471416"/>
            <a:ext cx="10149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CA9D6"/>
                </a:solidFill>
                <a:latin typeface="Pretendard"/>
                <a:ea typeface="Pretendard"/>
              </a:rPr>
              <a:t>계열사 확장:  </a:t>
            </a:r>
            <a:r>
              <a:rPr sz="900" b="0">
                <a:solidFill>
                  <a:srgbClr val="EDF4FB"/>
                </a:solidFill>
                <a:latin typeface="Pretendard"/>
                <a:ea typeface="Pretendard"/>
              </a:rPr>
              <a:t>전북은행(지역 SME · 전세 보호)  →  광주은행(가계 · 청년)  →  JB우리캐피탈(할부 · 리스 사후관리)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" y="4736592"/>
            <a:ext cx="10149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DB1CE"/>
                </a:solidFill>
                <a:latin typeface="Pretendard"/>
                <a:ea typeface="Pretendard"/>
              </a:rPr>
              <a:t>JB금융그룹이 공개한 AI 추진 방향(기업대출 상담·심사·사후관리 AI — 네이버클라우드 업무협약)과 같은 축에서 확장</a:t>
            </a:r>
          </a:p>
        </p:txBody>
      </p:sp>
    </p:spTree>
    <p:extLst>
      <p:ext uri="{BB962C8B-B14F-4D97-AF65-F5344CB8AC3E}">
        <p14:creationId xmlns:p14="http://schemas.microsoft.com/office/powerpoint/2010/main" val="133596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377</Words>
  <Application>Microsoft Office PowerPoint</Application>
  <PresentationFormat>와이드스크린</PresentationFormat>
  <Paragraphs>66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Pretendard_KR</vt:lpstr>
      <vt:lpstr>Malgun Gothic</vt:lpstr>
      <vt:lpstr>Malgun Gothic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Dacon io</dc:creator>
  <cp:lastModifiedBy>Dacon io</cp:lastModifiedBy>
  <cp:revision>47</cp:revision>
  <dcterms:created xsi:type="dcterms:W3CDTF">2024-05-21T00:00:56Z</dcterms:created>
  <dcterms:modified xsi:type="dcterms:W3CDTF">2026-05-11T00:07:25Z</dcterms:modified>
</cp:coreProperties>
</file>