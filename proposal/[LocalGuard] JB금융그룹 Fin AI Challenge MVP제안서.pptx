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9" r:id="rId3"/>
    <p:sldId id="278" r:id="rId4"/>
    <p:sldId id="279" r:id="rId5"/>
    <p:sldId id="280" r:id="rId6"/>
    <p:sldId id="281" r:id="rId7"/>
    <p:sldId id="282" r:id="rId8"/>
    <p:sldId id="283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1" roundtripDataSignature="AMtx7mihjF2ZWQEcNdCQGL3IzqOLXbA9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78BA"/>
    <a:srgbClr val="2691C5"/>
    <a:srgbClr val="FFFFFF"/>
    <a:srgbClr val="204B90"/>
    <a:srgbClr val="C12026"/>
    <a:srgbClr val="004889"/>
    <a:srgbClr val="004687"/>
    <a:srgbClr val="3CBF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A43732-219E-4773-AEE6-7331DB972763}">
  <a:tblStyle styleId="{97A43732-219E-4773-AEE6-7331DB972763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customschemas.google.com/relationships/presentationmetadata" Target="metadata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피해액(억원)</c:v>
                </c:pt>
              </c:strCache>
            </c:strRef>
          </c:tx>
          <c:spPr>
            <a:solidFill>
              <a:srgbClr val="CC785C"/>
            </a:solidFill>
          </c:spPr>
          <c:dPt>
            <c:idx val="0"/>
            <c:spPr>
              <a:solidFill>
                <a:srgbClr val="E8E0D2"/>
              </a:solidFill>
            </c:spPr>
          </c:dPt>
          <c:dPt>
            <c:idx val="1"/>
            <c:spPr>
              <a:solidFill>
                <a:srgbClr val="E8E0D2"/>
              </a:solidFill>
            </c:spPr>
          </c:dPt>
          <c:dPt>
            <c:idx val="2"/>
            <c:spPr>
              <a:solidFill>
                <a:srgbClr val="E8E0D2"/>
              </a:solidFill>
            </c:spPr>
          </c:dPt>
          <c:cat>
            <c:strRef>
              <c:f>Sheet1!$A$2:$A$5</c:f>
              <c:strCach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7744</c:v>
                </c:pt>
                <c:pt idx="1">
                  <c:v>5438</c:v>
                </c:pt>
                <c:pt idx="2">
                  <c:v>4472</c:v>
                </c:pt>
                <c:pt idx="3">
                  <c:v>8545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>
                  <a:solidFill>
                    <a:srgbClr val="141413"/>
                  </a:solidFill>
                  <a:latin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6DFD8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3D3D3A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누적 결정(건)</c:v>
                </c:pt>
              </c:strCache>
            </c:strRef>
          </c:tx>
          <c:spPr>
            <a:ln w="28575">
              <a:solidFill>
                <a:srgbClr val="A9583E"/>
              </a:solidFill>
            </a:ln>
          </c:spPr>
          <c:cat>
            <c:strRef>
              <c:f>Sheet1!$A$2:$A$5</c:f>
              <c:strCache>
                <c:ptCount val="4"/>
                <c:pt idx="0">
                  <c:v>’25.8</c:v>
                </c:pt>
                <c:pt idx="1">
                  <c:v>’25.10</c:v>
                </c:pt>
                <c:pt idx="2">
                  <c:v>’25.11</c:v>
                </c:pt>
                <c:pt idx="3">
                  <c:v>’26.5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32185</c:v>
                </c:pt>
                <c:pt idx="1">
                  <c:v>33978</c:v>
                </c:pt>
                <c:pt idx="2">
                  <c:v>34481</c:v>
                </c:pt>
                <c:pt idx="3">
                  <c:v>39121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850">
                  <a:solidFill>
                    <a:srgbClr val="141413"/>
                  </a:solidFill>
                  <a:latin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6DFD8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900">
          <a:solidFill>
            <a:srgbClr val="3D3D3A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z="1200" b="0" i="0" u="none" strike="noStrike" cap="none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fld>
            <a:endParaRPr lang="ko-KR" altLang="en-US"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403561924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chart" Target="../charts/chart1.xml"/><Relationship Id="rId5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1582645" y="1766158"/>
            <a:ext cx="9604661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lnSpc>
                <a:spcPct val="115000"/>
              </a:lnSpc>
            </a:pPr>
            <a:r>
              <a:rPr lang="en-US" altLang="ko-KR" sz="4000" b="0" i="0" dirty="0">
                <a:solidFill>
                  <a:srgbClr val="202124"/>
                </a:solidFill>
                <a:effectLst/>
                <a:latin typeface="Pretendard_KR"/>
                <a:ea typeface="Malgun Gothic" panose="020B0503020000020004" pitchFamily="50" charset="-127"/>
              </a:rPr>
              <a:t>JB</a:t>
            </a:r>
            <a:r>
              <a:rPr lang="ko-KR" altLang="en-US" sz="4000" b="0" i="0" dirty="0">
                <a:solidFill>
                  <a:srgbClr val="202124"/>
                </a:solidFill>
                <a:effectLst/>
                <a:latin typeface="Pretendard_KR"/>
                <a:ea typeface="Malgun Gothic" panose="020B0503020000020004" pitchFamily="50" charset="-127"/>
              </a:rPr>
              <a:t>금융그룹 </a:t>
            </a:r>
            <a:r>
              <a:rPr lang="en-US" altLang="ko-KR" sz="4000" b="0" i="0" dirty="0" err="1">
                <a:solidFill>
                  <a:srgbClr val="202124"/>
                </a:solidFill>
                <a:effectLst/>
                <a:latin typeface="Pretendard_KR"/>
                <a:ea typeface="Malgun Gothic" panose="020B0503020000020004" pitchFamily="50" charset="-127"/>
              </a:rPr>
              <a:t>Fin:AI</a:t>
            </a:r>
            <a:r>
              <a:rPr lang="en-US" altLang="ko-KR" sz="4000" b="0" i="0" dirty="0">
                <a:solidFill>
                  <a:srgbClr val="202124"/>
                </a:solidFill>
                <a:effectLst/>
                <a:latin typeface="Pretendard_KR"/>
                <a:ea typeface="Malgun Gothic" panose="020B0503020000020004" pitchFamily="50" charset="-127"/>
              </a:rPr>
              <a:t> Challenge</a:t>
            </a:r>
            <a:endParaRPr lang="en-US" altLang="ko-KR" sz="4000" b="0" i="0" dirty="0">
              <a:solidFill>
                <a:srgbClr val="202124"/>
              </a:solidFill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graphicFrame>
        <p:nvGraphicFramePr>
          <p:cNvPr id="89" name="Google Shape;89;p1"/>
          <p:cNvGraphicFramePr/>
          <p:nvPr>
            <p:extLst>
              <p:ext uri="{D42A27DB-BD31-4B8C-83A1-F6EECF244321}">
                <p14:modId xmlns:p14="http://schemas.microsoft.com/office/powerpoint/2010/main" val="53809264"/>
              </p:ext>
            </p:extLst>
          </p:nvPr>
        </p:nvGraphicFramePr>
        <p:xfrm>
          <a:off x="3386675" y="4470435"/>
          <a:ext cx="5418650" cy="899000"/>
        </p:xfrm>
        <a:graphic>
          <a:graphicData uri="http://schemas.openxmlformats.org/drawingml/2006/table">
            <a:tbl>
              <a:tblPr firstRow="1" bandRow="1">
                <a:noFill/>
                <a:tableStyleId>{97A43732-219E-4773-AEE6-7331DB972763}</a:tableStyleId>
              </a:tblPr>
              <a:tblGrid>
                <a:gridCol w="2709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9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strike="noStrike" cap="none" dirty="0" err="1"/>
                        <a:t>팀명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1">
                          <a:solidFill>
                            <a:srgbClr val="141413"/>
                          </a:solidFill>
                          <a:latin typeface="Pretendard"/>
                          <a:ea typeface="Pretendard"/>
                        </a:rPr>
                        <a:t>LocalGuard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u="none" strike="noStrike" cap="none" dirty="0"/>
                        <a:t>서비스명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1">
                          <a:solidFill>
                            <a:srgbClr val="141413"/>
                          </a:solidFill>
                          <a:latin typeface="Pretendard"/>
                          <a:ea typeface="Pretendard"/>
                        </a:rPr>
                        <a:t>JB LocalGuard OS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2531980"/>
                  </a:ext>
                </a:extLst>
              </a:tr>
            </a:tbl>
          </a:graphicData>
        </a:graphic>
      </p:graphicFrame>
      <p:cxnSp>
        <p:nvCxnSpPr>
          <p:cNvPr id="90" name="Google Shape;90;p1"/>
          <p:cNvCxnSpPr/>
          <p:nvPr/>
        </p:nvCxnSpPr>
        <p:spPr>
          <a:xfrm>
            <a:off x="388374" y="6415548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178BA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2" name="Google Shape;92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95670" y="6464707"/>
            <a:ext cx="1007955" cy="3534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4" name="Google Shape;94;p1"/>
          <p:cNvCxnSpPr>
            <a:cxnSpLocks/>
          </p:cNvCxnSpPr>
          <p:nvPr/>
        </p:nvCxnSpPr>
        <p:spPr>
          <a:xfrm>
            <a:off x="1582645" y="2607351"/>
            <a:ext cx="9508142" cy="0"/>
          </a:xfrm>
          <a:prstGeom prst="straightConnector1">
            <a:avLst/>
          </a:prstGeom>
          <a:noFill/>
          <a:ln w="38100" cap="flat" cmpd="sng">
            <a:solidFill>
              <a:srgbClr val="204B9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" name="Google Shape;90;p1">
            <a:extLst>
              <a:ext uri="{FF2B5EF4-FFF2-40B4-BE49-F238E27FC236}">
                <a16:creationId xmlns:a16="http://schemas.microsoft.com/office/drawing/2014/main" id="{053CAB3C-01D3-307A-B765-DB89E56FD267}"/>
              </a:ext>
            </a:extLst>
          </p:cNvPr>
          <p:cNvCxnSpPr/>
          <p:nvPr/>
        </p:nvCxnSpPr>
        <p:spPr>
          <a:xfrm>
            <a:off x="388374" y="364575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691C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" name="Google Shape;88;p1">
            <a:extLst>
              <a:ext uri="{FF2B5EF4-FFF2-40B4-BE49-F238E27FC236}">
                <a16:creationId xmlns:a16="http://schemas.microsoft.com/office/drawing/2014/main" id="{843A480D-A23F-1A8F-080E-E9B0778DF5F8}"/>
              </a:ext>
            </a:extLst>
          </p:cNvPr>
          <p:cNvSpPr txBox="1"/>
          <p:nvPr/>
        </p:nvSpPr>
        <p:spPr>
          <a:xfrm>
            <a:off x="4645457" y="2802248"/>
            <a:ext cx="2901085" cy="587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800" b="0" i="0">
                <a:solidFill>
                  <a:srgbClr val="202124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MVP </a:t>
            </a:r>
            <a:r>
              <a:rPr lang="ko-KR" altLang="en-US" sz="2800">
                <a:solidFill>
                  <a:srgbClr val="20212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제안</a:t>
            </a:r>
            <a:r>
              <a:rPr lang="ko-KR" altLang="en-US" sz="2800" b="0" i="0">
                <a:solidFill>
                  <a:srgbClr val="202124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서</a:t>
            </a:r>
            <a:endParaRPr lang="en-US" altLang="ko-KR" sz="2800" b="0" i="0" dirty="0">
              <a:solidFill>
                <a:srgbClr val="202124"/>
              </a:solidFill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5B2209C-6979-9157-1F5A-B28B3C5924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160" y="6542046"/>
            <a:ext cx="1125182" cy="189966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1581912" y="3611880"/>
            <a:ext cx="9509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0">
                <a:solidFill>
                  <a:srgbClr val="6C6A64"/>
                </a:solidFill>
                <a:latin typeface="Pretendard"/>
                <a:ea typeface="Pretendard"/>
              </a:rPr>
              <a:t>지역 금융 위험을 케이스로 만들고, AI Agent가 판단하고, 사람이 승인하는 금융안전 운영체제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92D8A6A-BAA6-9096-B1E5-F048C86014FA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9E82A0D5-5563-BD1F-6E05-4BFFF3CA4B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4277535"/>
              </p:ext>
            </p:extLst>
          </p:nvPr>
        </p:nvGraphicFramePr>
        <p:xfrm>
          <a:off x="744427" y="1145754"/>
          <a:ext cx="10776155" cy="4699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3741">
                  <a:extLst>
                    <a:ext uri="{9D8B030D-6E8A-4147-A177-3AD203B41FA5}">
                      <a16:colId xmlns:a16="http://schemas.microsoft.com/office/drawing/2014/main" val="648815269"/>
                    </a:ext>
                  </a:extLst>
                </a:gridCol>
                <a:gridCol w="8482414">
                  <a:extLst>
                    <a:ext uri="{9D8B030D-6E8A-4147-A177-3AD203B41FA5}">
                      <a16:colId xmlns:a16="http://schemas.microsoft.com/office/drawing/2014/main" val="1921105622"/>
                    </a:ext>
                  </a:extLst>
                </a:gridCol>
              </a:tblGrid>
              <a:tr h="9399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+mj-ea"/>
                          <a:ea typeface="+mj-ea"/>
                        </a:rPr>
                        <a:t>팀명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sz="1500" b="1">
                          <a:solidFill>
                            <a:srgbClr val="141413"/>
                          </a:solidFill>
                          <a:latin typeface="Pretendard"/>
                          <a:ea typeface="Pretendard"/>
                        </a:rPr>
                        <a:t>LocalGuard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2804223"/>
                  </a:ext>
                </a:extLst>
              </a:tr>
              <a:tr h="9399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j-ea"/>
                          <a:ea typeface="+mj-ea"/>
                        </a:rPr>
                        <a:t>팀원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sz="1500" b="0">
                          <a:solidFill>
                            <a:srgbClr val="3D3D3A"/>
                          </a:solidFill>
                          <a:latin typeface="Pretendard"/>
                          <a:ea typeface="Pretendard"/>
                        </a:rPr>
                        <a:t>이승보 (1인 팀)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5227288"/>
                  </a:ext>
                </a:extLst>
              </a:tr>
              <a:tr h="9399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j-ea"/>
                          <a:ea typeface="+mj-ea"/>
                        </a:rPr>
                        <a:t>서비스명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sz="1500" b="1">
                          <a:solidFill>
                            <a:srgbClr val="3D3D3A"/>
                          </a:solidFill>
                          <a:latin typeface="Pretendard"/>
                          <a:ea typeface="Pretendard"/>
                        </a:rPr>
                        <a:t>JB LocalGuard OS  —  지역금융 안전 AI Agent 운영 콘솔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84307777"/>
                  </a:ext>
                </a:extLst>
              </a:tr>
              <a:tr h="9399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j-ea"/>
                          <a:ea typeface="+mj-ea"/>
                        </a:rPr>
                        <a:t>주제 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sz="1500" b="0">
                          <a:solidFill>
                            <a:srgbClr val="3D3D3A"/>
                          </a:solidFill>
                          <a:latin typeface="Pretendard"/>
                          <a:ea typeface="Pretendard"/>
                        </a:rPr>
                        <a:t>자유주제 (JB 미래사업 AI · 지역금융 리스크 대응 AI Agent OS)</a:t>
                      </a:r>
                      <a:endParaRPr lang="ko-KR" altLang="en-US" sz="1400" i="1" dirty="0">
                        <a:solidFill>
                          <a:srgbClr val="0070C0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49380483"/>
                  </a:ext>
                </a:extLst>
              </a:tr>
              <a:tr h="9399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+mj-ea"/>
                          <a:ea typeface="+mj-ea"/>
                        </a:rPr>
                        <a:t>한줄소개</a:t>
                      </a:r>
                      <a:endParaRPr lang="en-US" altLang="ko-KR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sz="1400" b="0">
                          <a:solidFill>
                            <a:srgbClr val="3D3D3A"/>
                          </a:solidFill>
                          <a:latin typeface="Pretendard"/>
                          <a:ea typeface="Pretendard"/>
                        </a:rPr>
                        <a:t>자금압박 · 전세사기 · 보이스피싱 등 지역 고객의 금융 위험을 </a:t>
                      </a:r>
                      <a:r>
                        <a:rPr sz="1400" b="1">
                          <a:solidFill>
                            <a:srgbClr val="A9583E"/>
                          </a:solidFill>
                          <a:latin typeface="Pretendard"/>
                          <a:ea typeface="Pretendard"/>
                        </a:rPr>
                        <a:t>Case</a:t>
                      </a:r>
                      <a:r>
                        <a:rPr sz="1400" b="0">
                          <a:solidFill>
                            <a:srgbClr val="3D3D3A"/>
                          </a:solidFill>
                          <a:latin typeface="Pretendard"/>
                          <a:ea typeface="Pretendard"/>
                        </a:rPr>
                        <a:t>로 등록하면, 전문 AI Agent들이 </a:t>
                      </a:r>
                      <a:r>
                        <a:rPr sz="1400" b="1">
                          <a:solidFill>
                            <a:srgbClr val="A9583E"/>
                          </a:solidFill>
                          <a:latin typeface="Pretendard"/>
                          <a:ea typeface="Pretendard"/>
                        </a:rPr>
                        <a:t>판단 → 조치 초안 → 사람 승인 → 감사 기록</a:t>
                      </a:r>
                      <a:r>
                        <a:rPr sz="1400" b="0">
                          <a:solidFill>
                            <a:srgbClr val="3D3D3A"/>
                          </a:solidFill>
                          <a:latin typeface="Pretendard"/>
                          <a:ea typeface="Pretendard"/>
                        </a:rPr>
                        <a:t>까지 수행하는 JB 금융안전 운영 콘솔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49393612"/>
                  </a:ext>
                </a:extLst>
              </a:tr>
            </a:tbl>
          </a:graphicData>
        </a:graphic>
      </p:graphicFrame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B1DBEA1A-7DC9-3798-9EAA-C04652D3DCC4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2178B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" name="Google Shape;99;p2">
            <a:extLst>
              <a:ext uri="{FF2B5EF4-FFF2-40B4-BE49-F238E27FC236}">
                <a16:creationId xmlns:a16="http://schemas.microsoft.com/office/drawing/2014/main" id="{042EBB0F-0210-2C73-6523-51C3A0EB0550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04B9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" name="Google Shape;101;p2">
            <a:extLst>
              <a:ext uri="{FF2B5EF4-FFF2-40B4-BE49-F238E27FC236}">
                <a16:creationId xmlns:a16="http://schemas.microsoft.com/office/drawing/2014/main" id="{9F08DF74-238C-9073-1522-54C6B39AB5F3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rgbClr val="2691C5"/>
          </a:solidFill>
          <a:ln>
            <a:solidFill>
              <a:srgbClr val="FFFFFF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" name="Google Shape;102;p2">
            <a:extLst>
              <a:ext uri="{FF2B5EF4-FFF2-40B4-BE49-F238E27FC236}">
                <a16:creationId xmlns:a16="http://schemas.microsoft.com/office/drawing/2014/main" id="{92B34A29-70DB-0172-C890-5E355A3C66EE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1. Summary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" name="Google Shape;100;p2">
            <a:extLst>
              <a:ext uri="{FF2B5EF4-FFF2-40B4-BE49-F238E27FC236}">
                <a16:creationId xmlns:a16="http://schemas.microsoft.com/office/drawing/2014/main" id="{FF712513-FC6B-0394-BE94-BD6FA584D466}"/>
              </a:ext>
            </a:extLst>
          </p:cNvPr>
          <p:cNvSpPr txBox="1"/>
          <p:nvPr/>
        </p:nvSpPr>
        <p:spPr>
          <a:xfrm>
            <a:off x="9966782" y="211942"/>
            <a:ext cx="1866339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JB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금융그룹 </a:t>
            </a:r>
            <a:r>
              <a:rPr lang="en-US" altLang="ko-KR" sz="1000" b="1" i="0" u="none" strike="noStrike" cap="none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Fin:AI</a:t>
            </a: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Challenge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" name="Google Shape;92;p1">
            <a:extLst>
              <a:ext uri="{FF2B5EF4-FFF2-40B4-BE49-F238E27FC236}">
                <a16:creationId xmlns:a16="http://schemas.microsoft.com/office/drawing/2014/main" id="{2F4A3070-AD69-96C2-8039-2626E5B0483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95670" y="6464707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4F1CCC0-1626-4345-F4D7-A3CC2416B5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160" y="6542046"/>
            <a:ext cx="1125182" cy="189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433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4D7D1-0B19-F66A-84F8-B80017D8A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B165CAD0-2A02-5E29-8536-ED2B3C3375B1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220991-1956-8C13-7614-0AE6FD9B9483}"/>
              </a:ext>
            </a:extLst>
          </p:cNvPr>
          <p:cNvSpPr txBox="1"/>
          <p:nvPr/>
        </p:nvSpPr>
        <p:spPr>
          <a:xfrm>
            <a:off x="939332" y="1189703"/>
            <a:ext cx="27772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2. </a:t>
            </a:r>
            <a:r>
              <a:rPr lang="ko-KR" altLang="en-US" dirty="0">
                <a:latin typeface="+mj-ea"/>
                <a:ea typeface="+mj-ea"/>
              </a:rPr>
              <a:t>문제 정의</a:t>
            </a:r>
            <a:r>
              <a:rPr lang="en-US" altLang="ko-KR" dirty="0">
                <a:latin typeface="+mj-ea"/>
                <a:ea typeface="+mj-ea"/>
              </a:rPr>
              <a:t>(Problem Definition)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38DA6E6D-E7BA-305C-C09E-8185DC296499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Google Shape;102;p2">
            <a:extLst>
              <a:ext uri="{FF2B5EF4-FFF2-40B4-BE49-F238E27FC236}">
                <a16:creationId xmlns:a16="http://schemas.microsoft.com/office/drawing/2014/main" id="{69F5F16A-E189-D103-8849-37E8D603F1C8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2.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 정의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(Problem Definition)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" name="Google Shape;105;p2">
            <a:extLst>
              <a:ext uri="{FF2B5EF4-FFF2-40B4-BE49-F238E27FC236}">
                <a16:creationId xmlns:a16="http://schemas.microsoft.com/office/drawing/2014/main" id="{72C68CEE-9277-FB0E-5D76-605741218C00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2178B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" name="Google Shape;99;p2">
            <a:extLst>
              <a:ext uri="{FF2B5EF4-FFF2-40B4-BE49-F238E27FC236}">
                <a16:creationId xmlns:a16="http://schemas.microsoft.com/office/drawing/2014/main" id="{DD13D667-F1EF-84F5-EED9-A9EDD3C109ED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04B9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101;p2">
            <a:extLst>
              <a:ext uri="{FF2B5EF4-FFF2-40B4-BE49-F238E27FC236}">
                <a16:creationId xmlns:a16="http://schemas.microsoft.com/office/drawing/2014/main" id="{E8D2E638-900C-0A23-9832-99EFC1069729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rgbClr val="2691C5"/>
          </a:solidFill>
          <a:ln>
            <a:solidFill>
              <a:srgbClr val="FFFFFF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" name="Google Shape;100;p2">
            <a:extLst>
              <a:ext uri="{FF2B5EF4-FFF2-40B4-BE49-F238E27FC236}">
                <a16:creationId xmlns:a16="http://schemas.microsoft.com/office/drawing/2014/main" id="{45133C3B-FA3E-F0AB-0179-24B10C81060A}"/>
              </a:ext>
            </a:extLst>
          </p:cNvPr>
          <p:cNvSpPr txBox="1"/>
          <p:nvPr/>
        </p:nvSpPr>
        <p:spPr>
          <a:xfrm>
            <a:off x="9966782" y="211942"/>
            <a:ext cx="1866339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JB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금융그룹 </a:t>
            </a:r>
            <a:r>
              <a:rPr lang="en-US" altLang="ko-KR" sz="1000" b="1" i="0" u="none" strike="noStrike" cap="none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Fin:AI</a:t>
            </a: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Challenge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1" name="Google Shape;92;p1">
            <a:extLst>
              <a:ext uri="{FF2B5EF4-FFF2-40B4-BE49-F238E27FC236}">
                <a16:creationId xmlns:a16="http://schemas.microsoft.com/office/drawing/2014/main" id="{61296DF9-B7FF-0591-294E-C089D51449C1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64707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D1F100A-A05D-DBAD-2AD7-53EFD88E74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160" y="6542046"/>
            <a:ext cx="1125182" cy="189966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868680" y="1682496"/>
            <a:ext cx="3413759" cy="1024128"/>
          </a:xfrm>
          <a:prstGeom prst="roundRect">
            <a:avLst>
              <a:gd name="adj" fmla="val 8000"/>
            </a:avLst>
          </a:prstGeom>
          <a:solidFill>
            <a:srgbClr val="F5F0E8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1" y="1773936"/>
            <a:ext cx="308457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A9583E"/>
                </a:solidFill>
                <a:latin typeface="Pretendard"/>
                <a:ea typeface="Pretendard"/>
              </a:rPr>
              <a:t>8,545억 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" y="2157984"/>
            <a:ext cx="30845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413"/>
                </a:solidFill>
                <a:latin typeface="Pretendard"/>
                <a:ea typeface="Pretendard"/>
              </a:rPr>
              <a:t>2024년 보이스피싱 피해액 · 역대 최대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2432304"/>
            <a:ext cx="308457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8E8B82"/>
                </a:solidFill>
                <a:latin typeface="Pretendard"/>
                <a:ea typeface="Pretendard"/>
              </a:rPr>
              <a:t>전년 대비 약 2배 급증  |  경찰청 국가수사본부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65320" y="1682496"/>
            <a:ext cx="3413759" cy="1024128"/>
          </a:xfrm>
          <a:prstGeom prst="roundRect">
            <a:avLst>
              <a:gd name="adj" fmla="val 8000"/>
            </a:avLst>
          </a:prstGeom>
          <a:solidFill>
            <a:srgbClr val="F5F0E8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29911" y="1773936"/>
            <a:ext cx="308457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A9583E"/>
                </a:solidFill>
                <a:latin typeface="Pretendard"/>
                <a:ea typeface="Pretendard"/>
              </a:rPr>
              <a:t>39,121건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29911" y="2157984"/>
            <a:ext cx="30845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413"/>
                </a:solidFill>
                <a:latin typeface="Pretendard"/>
                <a:ea typeface="Pretendard"/>
              </a:rPr>
              <a:t>전세사기 피해자 누적 결정 (’26.5 기준)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29911" y="2432304"/>
            <a:ext cx="308457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8E8B82"/>
                </a:solidFill>
                <a:latin typeface="Pretendard"/>
                <a:ea typeface="Pretendard"/>
              </a:rPr>
              <a:t>’23.6 특별법 시행 후 계속 증가  |  국토교통부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61960" y="1682496"/>
            <a:ext cx="3413759" cy="1024128"/>
          </a:xfrm>
          <a:prstGeom prst="roundRect">
            <a:avLst>
              <a:gd name="adj" fmla="val 8000"/>
            </a:avLst>
          </a:prstGeom>
          <a:solidFill>
            <a:srgbClr val="F5F0E8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6551" y="1773936"/>
            <a:ext cx="308457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A9583E"/>
                </a:solidFill>
                <a:latin typeface="Pretendard"/>
                <a:ea typeface="Pretendard"/>
              </a:rPr>
              <a:t>43.7만 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6551" y="2157984"/>
            <a:ext cx="30845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413"/>
                </a:solidFill>
                <a:latin typeface="Pretendard"/>
                <a:ea typeface="Pretendard"/>
              </a:rPr>
              <a:t>취약 자영업자 (’25.2분기) · 대출 약 130조 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6551" y="2432304"/>
            <a:ext cx="308457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8E8B82"/>
                </a:solidFill>
                <a:latin typeface="Pretendard"/>
                <a:ea typeface="Pretendard"/>
              </a:rPr>
              <a:t>취약차주 연체율 11%대  |  한국은행 금융안정 상황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2852928"/>
            <a:ext cx="5166359" cy="19019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3271" y="2926080"/>
            <a:ext cx="483717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41413"/>
                </a:solidFill>
                <a:latin typeface="Pretendard"/>
                <a:ea typeface="Pretendard"/>
              </a:rPr>
              <a:t>보이스피싱 피해액 추이 (억 원)</a:t>
            </a:r>
          </a:p>
        </p:txBody>
      </p:sp>
      <p:graphicFrame>
        <p:nvGraphicFramePr>
          <p:cNvPr id="32" name="Chart 31"/>
          <p:cNvGraphicFramePr>
            <a:graphicFrameLocks noGrp="1"/>
          </p:cNvGraphicFramePr>
          <p:nvPr/>
        </p:nvGraphicFramePr>
        <p:xfrm>
          <a:off x="1005839" y="3182112"/>
          <a:ext cx="4892040" cy="1243584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1033271" y="4480560"/>
            <a:ext cx="483717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8E8B82"/>
                </a:solidFill>
                <a:latin typeface="Pretendard"/>
                <a:ea typeface="Pretendard"/>
              </a:rPr>
              <a:t>출처: 경찰청 국가수사본부 발표 (2025.7 보도) · 2024년 1인당 피해액 5,290만 원으로 2배 증가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59" y="2852928"/>
            <a:ext cx="5166359" cy="19019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3951" y="2926080"/>
            <a:ext cx="483717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41413"/>
                </a:solidFill>
                <a:latin typeface="Pretendard"/>
                <a:ea typeface="Pretendard"/>
              </a:rPr>
              <a:t>전세사기 피해자 누적 결정 건수</a:t>
            </a:r>
          </a:p>
        </p:txBody>
      </p:sp>
      <p:graphicFrame>
        <p:nvGraphicFramePr>
          <p:cNvPr id="36" name="Chart 35"/>
          <p:cNvGraphicFramePr>
            <a:graphicFrameLocks noGrp="1"/>
          </p:cNvGraphicFramePr>
          <p:nvPr/>
        </p:nvGraphicFramePr>
        <p:xfrm>
          <a:off x="6446520" y="3182112"/>
          <a:ext cx="4892040" cy="1243584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6473951" y="4480560"/>
            <a:ext cx="483717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8E8B82"/>
                </a:solidFill>
                <a:latin typeface="Pretendard"/>
                <a:ea typeface="Pretendard"/>
              </a:rPr>
              <a:t>출처: 국토교통부 전세사기피해지원위원회 결정 현황 (보도자료 ’25.8 / ’25.10 / ’25.11 / ’26.5)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8680" y="4901184"/>
            <a:ext cx="10607040" cy="914400"/>
          </a:xfrm>
          <a:prstGeom prst="roundRect">
            <a:avLst>
              <a:gd name="adj" fmla="val 10000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7280" y="5020056"/>
            <a:ext cx="3261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CC785C"/>
                </a:solidFill>
                <a:latin typeface="Pretendard"/>
                <a:ea typeface="Pretendard"/>
              </a:rPr>
              <a:t>누가 겪는 문제인가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" y="5266944"/>
            <a:ext cx="326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A09D96"/>
                </a:solidFill>
                <a:latin typeface="Pretendard"/>
                <a:ea typeface="Pretendard"/>
              </a:rPr>
              <a:t>지역 소상공인 · 전세 계약을 앞둔 청년 · 고령 고객,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A09D96"/>
                </a:solidFill>
                <a:latin typeface="Pretendard"/>
                <a:ea typeface="Pretendard"/>
              </a:rPr>
              <a:t>그리고 이들을 담당하는 JB RM · 심사 · 준법 담당자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41520" y="5020056"/>
            <a:ext cx="3261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CC785C"/>
                </a:solidFill>
                <a:latin typeface="Pretendard"/>
                <a:ea typeface="Pretendard"/>
              </a:rPr>
              <a:t>무엇이 문제인가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41520" y="5266944"/>
            <a:ext cx="326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A09D96"/>
                </a:solidFill>
                <a:latin typeface="Pretendard"/>
                <a:ea typeface="Pretendard"/>
              </a:rPr>
              <a:t>기사 · 사기 경보 · 시세 · 등기 · 상담기록이 흩어져 있어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A09D96"/>
                </a:solidFill>
                <a:latin typeface="Pretendard"/>
                <a:ea typeface="Pretendard"/>
              </a:rPr>
              <a:t>위험 신호를 조기에 모아서 판단하고 행동하기 어려움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85759" y="5020056"/>
            <a:ext cx="3261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CC785C"/>
                </a:solidFill>
                <a:latin typeface="Pretendard"/>
                <a:ea typeface="Pretendard"/>
              </a:rPr>
              <a:t>해결 후 기대 변화 (KPI)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85759" y="5266944"/>
            <a:ext cx="326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A09D96"/>
                </a:solidFill>
                <a:latin typeface="Pretendard"/>
                <a:ea typeface="Pretendard"/>
              </a:rPr>
              <a:t>위험 인지→대응 착수 시간 50% 단축 · 판단 100% 근거 연결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A09D96"/>
                </a:solidFill>
                <a:latin typeface="Pretendard"/>
                <a:ea typeface="Pretendard"/>
              </a:rPr>
              <a:t>고객 대상 행동 100% 사람 승인 통과 · 사후관리 누락 0건</a:t>
            </a:r>
          </a:p>
        </p:txBody>
      </p:sp>
    </p:spTree>
    <p:extLst>
      <p:ext uri="{BB962C8B-B14F-4D97-AF65-F5344CB8AC3E}">
        <p14:creationId xmlns:p14="http://schemas.microsoft.com/office/powerpoint/2010/main" val="918699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E1803-0BCB-CDD6-42D3-235F3A36E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66A8299-6D51-DAF9-3F23-456F5D4538BD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C76D45-1367-695A-8B79-BFC4D4D7BA5B}"/>
              </a:ext>
            </a:extLst>
          </p:cNvPr>
          <p:cNvSpPr txBox="1"/>
          <p:nvPr/>
        </p:nvSpPr>
        <p:spPr>
          <a:xfrm>
            <a:off x="939332" y="1189703"/>
            <a:ext cx="33868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3. </a:t>
            </a:r>
            <a:r>
              <a:rPr lang="ko-KR" altLang="en-US" dirty="0">
                <a:latin typeface="+mj-ea"/>
                <a:ea typeface="+mj-ea"/>
              </a:rPr>
              <a:t>제안 솔루션 개요 </a:t>
            </a:r>
            <a:r>
              <a:rPr lang="en-US" altLang="ko-KR" dirty="0">
                <a:latin typeface="+mj-ea"/>
                <a:ea typeface="+mj-ea"/>
              </a:rPr>
              <a:t>(Solution Overview)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1D14950D-817F-F6EB-EF9A-D1112359DB87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Google Shape;102;p2">
            <a:extLst>
              <a:ext uri="{FF2B5EF4-FFF2-40B4-BE49-F238E27FC236}">
                <a16:creationId xmlns:a16="http://schemas.microsoft.com/office/drawing/2014/main" id="{48D5AACD-782A-F75A-7057-CC33540D6F74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3.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제안 솔루션 개요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(Solution Overview)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" name="Google Shape;105;p2">
            <a:extLst>
              <a:ext uri="{FF2B5EF4-FFF2-40B4-BE49-F238E27FC236}">
                <a16:creationId xmlns:a16="http://schemas.microsoft.com/office/drawing/2014/main" id="{233CF2AF-1B9B-3631-BC06-AD7510F434FD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2178B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" name="Google Shape;99;p2">
            <a:extLst>
              <a:ext uri="{FF2B5EF4-FFF2-40B4-BE49-F238E27FC236}">
                <a16:creationId xmlns:a16="http://schemas.microsoft.com/office/drawing/2014/main" id="{3BB4E210-05A3-8500-833B-493E20BFD22C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04B9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101;p2">
            <a:extLst>
              <a:ext uri="{FF2B5EF4-FFF2-40B4-BE49-F238E27FC236}">
                <a16:creationId xmlns:a16="http://schemas.microsoft.com/office/drawing/2014/main" id="{C159738A-FC36-C4DB-30D8-914020758657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rgbClr val="2691C5"/>
          </a:solidFill>
          <a:ln>
            <a:solidFill>
              <a:srgbClr val="FFFFFF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" name="Google Shape;100;p2">
            <a:extLst>
              <a:ext uri="{FF2B5EF4-FFF2-40B4-BE49-F238E27FC236}">
                <a16:creationId xmlns:a16="http://schemas.microsoft.com/office/drawing/2014/main" id="{7857A5BB-5018-1C11-40B9-97290B090E61}"/>
              </a:ext>
            </a:extLst>
          </p:cNvPr>
          <p:cNvSpPr txBox="1"/>
          <p:nvPr/>
        </p:nvSpPr>
        <p:spPr>
          <a:xfrm>
            <a:off x="9966782" y="211942"/>
            <a:ext cx="1866339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JB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금융그룹 </a:t>
            </a:r>
            <a:r>
              <a:rPr lang="en-US" altLang="ko-KR" sz="1000" b="1" i="0" u="none" strike="noStrike" cap="none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Fin:AI</a:t>
            </a: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Challenge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1" name="Google Shape;92;p1">
            <a:extLst>
              <a:ext uri="{FF2B5EF4-FFF2-40B4-BE49-F238E27FC236}">
                <a16:creationId xmlns:a16="http://schemas.microsoft.com/office/drawing/2014/main" id="{3A9837C3-DD0A-3D3B-B638-64B3302775E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64707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90AE3F27-92C5-02B1-FF71-7807DD32AC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160" y="6542046"/>
            <a:ext cx="1125182" cy="18996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68680" y="1664208"/>
            <a:ext cx="6492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141413"/>
                </a:solidFill>
                <a:latin typeface="Pretendard"/>
                <a:ea typeface="Pretendard"/>
              </a:rPr>
              <a:t>시스템 구성도 — Case → AgentRun → Approval → Audit 운영 루프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1956816"/>
            <a:ext cx="6492240" cy="566928"/>
          </a:xfrm>
          <a:prstGeom prst="roundRect">
            <a:avLst>
              <a:gd name="adj" fmla="val 8000"/>
            </a:avLst>
          </a:prstGeom>
          <a:solidFill>
            <a:srgbClr val="F5F0E8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2011680"/>
            <a:ext cx="1005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6C6A64"/>
                </a:solidFill>
                <a:latin typeface="Pretendard"/>
                <a:ea typeface="Pretendard"/>
              </a:rPr>
              <a:t>입력 · 증거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11680" y="208483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850" b="0">
                <a:solidFill>
                  <a:srgbClr val="3D3D3A"/>
                </a:solidFill>
                <a:latin typeface="Pretendard"/>
                <a:ea typeface="Pretendard"/>
              </a:rPr>
              <a:t>상담 노트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63240" y="208483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850" b="0">
                <a:solidFill>
                  <a:srgbClr val="3D3D3A"/>
                </a:solidFill>
                <a:latin typeface="Pretendard"/>
                <a:ea typeface="Pretendard"/>
              </a:rPr>
              <a:t>뉴스 · 기사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0" y="2084832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850" b="0">
                <a:solidFill>
                  <a:srgbClr val="3D3D3A"/>
                </a:solidFill>
                <a:latin typeface="Pretendard"/>
                <a:ea typeface="Pretendard"/>
              </a:rPr>
              <a:t>공식 경보(금융위·국토부)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97880" y="2084832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850" b="0">
                <a:solidFill>
                  <a:srgbClr val="3D3D3A"/>
                </a:solidFill>
                <a:latin typeface="Pretendard"/>
                <a:ea typeface="Pretendard"/>
              </a:rPr>
              <a:t>시세 · 등기(HUG 안심전세)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114800" y="2523744"/>
            <a:ext cx="0" cy="182880"/>
          </a:xfrm>
          <a:prstGeom prst="line">
            <a:avLst/>
          </a:prstGeom>
          <a:ln w="17780">
            <a:solidFill>
              <a:srgbClr val="6C6A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68680" y="2724912"/>
            <a:ext cx="6492240" cy="1591056"/>
          </a:xfrm>
          <a:prstGeom prst="roundRect">
            <a:avLst>
              <a:gd name="adj" fmla="val 6000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4983" y="2807208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AF9F5"/>
                </a:solidFill>
                <a:latin typeface="Pretendard"/>
                <a:ea typeface="Pretendard"/>
              </a:rPr>
              <a:t>JB LocalGuard OS  ·  멀티 Agent 코어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74920" y="2816352"/>
            <a:ext cx="2148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1">
                <a:solidFill>
                  <a:srgbClr val="E8A55A"/>
                </a:solidFill>
                <a:latin typeface="Pretendard"/>
                <a:ea typeface="Pretendard"/>
              </a:rPr>
              <a:t>Skill Registry 25종 장착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4983" y="3090672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252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900" b="1">
                <a:solidFill>
                  <a:srgbClr val="FAF9F5"/>
                </a:solidFill>
                <a:latin typeface="Pretendard"/>
                <a:ea typeface="Pretendard"/>
              </a:rPr>
              <a:t>LocalGuard Orchestrator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72968" y="3127248"/>
            <a:ext cx="40233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A09D96"/>
                </a:solidFill>
                <a:latin typeface="Pretendard"/>
                <a:ea typeface="Pretendard"/>
              </a:rPr>
              <a:t>지시 해석 · Agent 배정 · 승인 레벨(L0–L4) 산정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14983" y="3493008"/>
            <a:ext cx="957072" cy="310896"/>
          </a:xfrm>
          <a:prstGeom prst="roundRect">
            <a:avLst>
              <a:gd name="adj" fmla="val 50000"/>
            </a:avLst>
          </a:prstGeom>
          <a:solidFill>
            <a:srgbClr val="252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800" b="1">
                <a:solidFill>
                  <a:srgbClr val="FAF9F5"/>
                </a:solidFill>
                <a:latin typeface="Pretendard"/>
                <a:ea typeface="Pretendard"/>
              </a:rPr>
              <a:t>Pain Radar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063496" y="3493008"/>
            <a:ext cx="957072" cy="310896"/>
          </a:xfrm>
          <a:prstGeom prst="roundRect">
            <a:avLst>
              <a:gd name="adj" fmla="val 50000"/>
            </a:avLst>
          </a:prstGeom>
          <a:solidFill>
            <a:srgbClr val="252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800" b="1">
                <a:solidFill>
                  <a:srgbClr val="FAF9F5"/>
                </a:solidFill>
                <a:latin typeface="Pretendard"/>
                <a:ea typeface="Pretendard"/>
              </a:rPr>
              <a:t>Cashflow Triage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112008" y="3493008"/>
            <a:ext cx="957072" cy="310896"/>
          </a:xfrm>
          <a:prstGeom prst="roundRect">
            <a:avLst>
              <a:gd name="adj" fmla="val 50000"/>
            </a:avLst>
          </a:prstGeom>
          <a:solidFill>
            <a:srgbClr val="252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800" b="1">
                <a:solidFill>
                  <a:srgbClr val="FAF9F5"/>
                </a:solidFill>
                <a:latin typeface="Pretendard"/>
                <a:ea typeface="Pretendard"/>
              </a:rPr>
              <a:t>Policy Match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60520" y="3493008"/>
            <a:ext cx="957072" cy="310896"/>
          </a:xfrm>
          <a:prstGeom prst="roundRect">
            <a:avLst>
              <a:gd name="adj" fmla="val 50000"/>
            </a:avLst>
          </a:prstGeom>
          <a:solidFill>
            <a:srgbClr val="252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800" b="1">
                <a:solidFill>
                  <a:srgbClr val="FAF9F5"/>
                </a:solidFill>
                <a:latin typeface="Pretendard"/>
                <a:ea typeface="Pretendard"/>
              </a:rPr>
              <a:t>Fraud Shield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209032" y="3493008"/>
            <a:ext cx="957072" cy="310896"/>
          </a:xfrm>
          <a:prstGeom prst="roundRect">
            <a:avLst>
              <a:gd name="adj" fmla="val 50000"/>
            </a:avLst>
          </a:prstGeom>
          <a:solidFill>
            <a:srgbClr val="252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800" b="1">
                <a:solidFill>
                  <a:srgbClr val="FAF9F5"/>
                </a:solidFill>
                <a:latin typeface="Pretendard"/>
                <a:ea typeface="Pretendard"/>
              </a:rPr>
              <a:t>RM Copilot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57544" y="3493008"/>
            <a:ext cx="957072" cy="310896"/>
          </a:xfrm>
          <a:prstGeom prst="roundRect">
            <a:avLst>
              <a:gd name="adj" fmla="val 50000"/>
            </a:avLst>
          </a:prstGeom>
          <a:solidFill>
            <a:srgbClr val="252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800" b="1">
                <a:solidFill>
                  <a:srgbClr val="FAF9F5"/>
                </a:solidFill>
                <a:latin typeface="Pretendard"/>
                <a:ea typeface="Pretendard"/>
              </a:rPr>
              <a:t>Compliance Guard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14983" y="3877056"/>
            <a:ext cx="6199631" cy="329184"/>
          </a:xfrm>
          <a:prstGeom prst="roundRect">
            <a:avLst>
              <a:gd name="adj" fmla="val 50000"/>
            </a:avLst>
          </a:prstGeom>
          <a:solidFill>
            <a:srgbClr val="252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61288" y="3941064"/>
            <a:ext cx="5943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5DB8A6"/>
                </a:solidFill>
                <a:latin typeface="Pretendard"/>
                <a:ea typeface="Pretendard"/>
              </a:rPr>
              <a:t>Jeonse Shield 라인 (5 Agent)  </a:t>
            </a:r>
            <a:r>
              <a:rPr sz="850" b="0">
                <a:solidFill>
                  <a:srgbClr val="A09D96"/>
                </a:solidFill>
                <a:latin typeface="Pretendard"/>
                <a:ea typeface="Pretendard"/>
              </a:rPr>
              <a:t>전세가율 · 권리관계 · 자산 리스크 · 계약 체크리스트 · 은행 연계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114800" y="4315968"/>
            <a:ext cx="0" cy="182880"/>
          </a:xfrm>
          <a:prstGeom prst="line">
            <a:avLst/>
          </a:prstGeom>
          <a:ln w="17780">
            <a:solidFill>
              <a:srgbClr val="6C6A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868680" y="4517136"/>
            <a:ext cx="6492240" cy="475488"/>
          </a:xfrm>
          <a:prstGeom prst="roundRect">
            <a:avLst>
              <a:gd name="adj" fmla="val 8000"/>
            </a:avLst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4983" y="4636007"/>
            <a:ext cx="61996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Pretendard"/>
                <a:ea typeface="Pretendard"/>
              </a:rPr>
              <a:t>Approval Gate  </a:t>
            </a:r>
            <a:r>
              <a:rPr sz="950" b="0">
                <a:solidFill>
                  <a:srgbClr val="FFFFFF"/>
                </a:solidFill>
                <a:latin typeface="Pretendard"/>
                <a:ea typeface="Pretendard"/>
              </a:rPr>
              <a:t>고객 대상 행동 · 민감 조치는 사람(RM · 준법)이 승인해야 실행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114800" y="4992623"/>
            <a:ext cx="0" cy="182880"/>
          </a:xfrm>
          <a:prstGeom prst="line">
            <a:avLst/>
          </a:prstGeom>
          <a:ln w="17780">
            <a:solidFill>
              <a:srgbClr val="6C6A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868680" y="5193792"/>
            <a:ext cx="3154679" cy="493776"/>
          </a:xfrm>
          <a:prstGeom prst="roundRect">
            <a:avLst>
              <a:gd name="adj" fmla="val 8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96695" y="5257800"/>
            <a:ext cx="28986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41413"/>
                </a:solidFill>
                <a:latin typeface="Pretendard"/>
                <a:ea typeface="Pretendard"/>
              </a:rPr>
              <a:t>Audit Ledger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6C6A64"/>
                </a:solidFill>
                <a:latin typeface="Pretendard"/>
                <a:ea typeface="Pretendard"/>
              </a:rPr>
              <a:t>근거 · 판단 · 행동 · 승인 전체 기록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206240" y="5193792"/>
            <a:ext cx="3154679" cy="493776"/>
          </a:xfrm>
          <a:prstGeom prst="roundRect">
            <a:avLst>
              <a:gd name="adj" fmla="val 8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34255" y="5257800"/>
            <a:ext cx="28986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41413"/>
                </a:solidFill>
                <a:latin typeface="Pretendard"/>
                <a:ea typeface="Pretendard"/>
              </a:rPr>
              <a:t>RM 콘솔 · 고객 안내(승인 후)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6C6A64"/>
                </a:solidFill>
                <a:latin typeface="Pretendard"/>
                <a:ea typeface="Pretendard"/>
              </a:rPr>
              <a:t>콜백 초안 · 체크리스트 · 은행 서비스 연계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80959" y="1664208"/>
            <a:ext cx="3794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141413"/>
                </a:solidFill>
                <a:latin typeface="Pretendard"/>
                <a:ea typeface="Pretendard"/>
              </a:rPr>
              <a:t>서비스 구성 · 운영 시나리오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680959" y="1956816"/>
            <a:ext cx="3794760" cy="512064"/>
          </a:xfrm>
          <a:prstGeom prst="roundRect">
            <a:avLst>
              <a:gd name="adj" fmla="val 8000"/>
            </a:avLst>
          </a:prstGeom>
          <a:solidFill>
            <a:srgbClr val="FAF9F5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772399" y="2075688"/>
            <a:ext cx="274320" cy="27432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56447" y="2011680"/>
            <a:ext cx="3200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413"/>
                </a:solidFill>
                <a:latin typeface="Pretendard"/>
                <a:ea typeface="Pretendard"/>
              </a:rPr>
              <a:t>Case 생성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56447" y="2212848"/>
            <a:ext cx="3200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6C6A64"/>
                </a:solidFill>
                <a:latin typeface="Pretendard"/>
                <a:ea typeface="Pretendard"/>
              </a:rPr>
              <a:t>고객 위험을 케이스로 등록 (RM 또는 정기 스캔)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680959" y="2542032"/>
            <a:ext cx="3794760" cy="512064"/>
          </a:xfrm>
          <a:prstGeom prst="roundRect">
            <a:avLst>
              <a:gd name="adj" fmla="val 8000"/>
            </a:avLst>
          </a:prstGeom>
          <a:solidFill>
            <a:srgbClr val="FAF9F5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772399" y="2660904"/>
            <a:ext cx="274320" cy="27432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56447" y="2596896"/>
            <a:ext cx="3200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413"/>
                </a:solidFill>
                <a:latin typeface="Pretendard"/>
                <a:ea typeface="Pretendard"/>
              </a:rPr>
              <a:t>AgentRun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56447" y="2798064"/>
            <a:ext cx="3200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6C6A64"/>
                </a:solidFill>
                <a:latin typeface="Pretendard"/>
                <a:ea typeface="Pretendard"/>
              </a:rPr>
              <a:t>전문 Agent들이 스킬을 장착하고 근거 수집 · 위험 판단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680959" y="3127248"/>
            <a:ext cx="3794760" cy="512064"/>
          </a:xfrm>
          <a:prstGeom prst="roundRect">
            <a:avLst>
              <a:gd name="adj" fmla="val 8000"/>
            </a:avLst>
          </a:prstGeom>
          <a:solidFill>
            <a:srgbClr val="FAF9F5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772399" y="3246120"/>
            <a:ext cx="274320" cy="27432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  <a:ea typeface="Pretendard"/>
              </a:rPr>
              <a:t>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56447" y="3182112"/>
            <a:ext cx="3200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413"/>
                </a:solidFill>
                <a:latin typeface="Pretendard"/>
                <a:ea typeface="Pretendard"/>
              </a:rPr>
              <a:t>Approval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56447" y="3383280"/>
            <a:ext cx="3200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6C6A64"/>
                </a:solidFill>
                <a:latin typeface="Pretendard"/>
                <a:ea typeface="Pretendard"/>
              </a:rPr>
              <a:t>조치 초안을 사람이 검토 — Approve / Reject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680959" y="3712464"/>
            <a:ext cx="3794760" cy="512064"/>
          </a:xfrm>
          <a:prstGeom prst="roundRect">
            <a:avLst>
              <a:gd name="adj" fmla="val 8000"/>
            </a:avLst>
          </a:prstGeom>
          <a:solidFill>
            <a:srgbClr val="FAF9F5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772399" y="3831336"/>
            <a:ext cx="274320" cy="27432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  <a:ea typeface="Pretendard"/>
              </a:rPr>
              <a:t>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56447" y="3767328"/>
            <a:ext cx="3200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413"/>
                </a:solidFill>
                <a:latin typeface="Pretendard"/>
                <a:ea typeface="Pretendard"/>
              </a:rPr>
              <a:t>Audit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56447" y="3968496"/>
            <a:ext cx="3200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6C6A64"/>
                </a:solidFill>
                <a:latin typeface="Pretendard"/>
                <a:ea typeface="Pretendard"/>
              </a:rPr>
              <a:t>모든 판단 · 행동 · 승인이 감사 로그로 남음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680959" y="4315968"/>
            <a:ext cx="3794760" cy="1481328"/>
          </a:xfrm>
          <a:prstGeom prst="roundRect">
            <a:avLst>
              <a:gd name="adj" fmla="val 8000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827263" y="4416552"/>
            <a:ext cx="35021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CC785C"/>
                </a:solidFill>
                <a:latin typeface="Pretendard"/>
                <a:ea typeface="Pretendard"/>
              </a:rPr>
              <a:t>핵심 설계 원칙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827263" y="4663440"/>
            <a:ext cx="350215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FAF9F5"/>
                </a:solidFill>
                <a:latin typeface="Pretendard"/>
                <a:ea typeface="Pretendard"/>
              </a:rPr>
              <a:t>· 스킬 장착형 멀티 Agent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955279" y="4846320"/>
            <a:ext cx="337413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A09D96"/>
                </a:solidFill>
                <a:latin typeface="Pretendard"/>
                <a:ea typeface="Pretendard"/>
              </a:rPr>
              <a:t>기능 추가 = 스킬 패키지 추가 (확장 용이)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827263" y="5038344"/>
            <a:ext cx="350215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FAF9F5"/>
                </a:solidFill>
                <a:latin typeface="Pretendard"/>
                <a:ea typeface="Pretendard"/>
              </a:rPr>
              <a:t>· 승인 우선 자동화 (L0–L4)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955279" y="5221224"/>
            <a:ext cx="337413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A09D96"/>
                </a:solidFill>
                <a:latin typeface="Pretendard"/>
                <a:ea typeface="Pretendard"/>
              </a:rPr>
              <a:t>완전 자동 발송 금지 · 사람이 마지막 결정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827263" y="5413248"/>
            <a:ext cx="350215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FAF9F5"/>
                </a:solidFill>
                <a:latin typeface="Pretendard"/>
                <a:ea typeface="Pretendard"/>
              </a:rPr>
              <a:t>· 근거 · 감사가 일급 객체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955279" y="5596128"/>
            <a:ext cx="337413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A09D96"/>
                </a:solidFill>
                <a:latin typeface="Pretendard"/>
                <a:ea typeface="Pretendard"/>
              </a:rPr>
              <a:t>모든 판단에 출처 링크와 감사 기록 연결</a:t>
            </a:r>
          </a:p>
        </p:txBody>
      </p:sp>
    </p:spTree>
    <p:extLst>
      <p:ext uri="{BB962C8B-B14F-4D97-AF65-F5344CB8AC3E}">
        <p14:creationId xmlns:p14="http://schemas.microsoft.com/office/powerpoint/2010/main" val="802282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6C246-B742-4CC5-4DE1-3D3A54988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87D249F0-0136-43E2-7E93-8F61EA5FFA04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A9B714-0CA5-94B7-0D36-144E9F422B5C}"/>
              </a:ext>
            </a:extLst>
          </p:cNvPr>
          <p:cNvSpPr txBox="1"/>
          <p:nvPr/>
        </p:nvSpPr>
        <p:spPr>
          <a:xfrm>
            <a:off x="939332" y="1189703"/>
            <a:ext cx="27969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4. </a:t>
            </a:r>
            <a:r>
              <a:rPr lang="ko-KR" altLang="en-US" dirty="0">
                <a:latin typeface="+mj-ea"/>
                <a:ea typeface="+mj-ea"/>
              </a:rPr>
              <a:t>주요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기능 정의 </a:t>
            </a:r>
            <a:r>
              <a:rPr lang="en-US" altLang="ko-KR" dirty="0">
                <a:latin typeface="+mj-ea"/>
                <a:ea typeface="+mj-ea"/>
              </a:rPr>
              <a:t>(Key Features)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21EE5127-5102-7956-BFA7-7895865F1915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Google Shape;102;p2">
            <a:extLst>
              <a:ext uri="{FF2B5EF4-FFF2-40B4-BE49-F238E27FC236}">
                <a16:creationId xmlns:a16="http://schemas.microsoft.com/office/drawing/2014/main" id="{47A9B20E-0365-DB76-C6A1-A82BF7552CE2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4.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주요 기능 정의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(Key Features)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" name="Google Shape;105;p2">
            <a:extLst>
              <a:ext uri="{FF2B5EF4-FFF2-40B4-BE49-F238E27FC236}">
                <a16:creationId xmlns:a16="http://schemas.microsoft.com/office/drawing/2014/main" id="{7B1350C5-8319-6983-B16E-22480553B209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2178B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" name="Google Shape;99;p2">
            <a:extLst>
              <a:ext uri="{FF2B5EF4-FFF2-40B4-BE49-F238E27FC236}">
                <a16:creationId xmlns:a16="http://schemas.microsoft.com/office/drawing/2014/main" id="{F7E7F1CC-8A52-054C-1D46-3762F4542CE9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04B9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101;p2">
            <a:extLst>
              <a:ext uri="{FF2B5EF4-FFF2-40B4-BE49-F238E27FC236}">
                <a16:creationId xmlns:a16="http://schemas.microsoft.com/office/drawing/2014/main" id="{5B08C8C1-2BAB-D8AA-20BE-0327E50B28A8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rgbClr val="2691C5"/>
          </a:solidFill>
          <a:ln>
            <a:solidFill>
              <a:srgbClr val="FFFFFF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" name="Google Shape;100;p2">
            <a:extLst>
              <a:ext uri="{FF2B5EF4-FFF2-40B4-BE49-F238E27FC236}">
                <a16:creationId xmlns:a16="http://schemas.microsoft.com/office/drawing/2014/main" id="{7CE2EA03-7386-45E6-06B4-031FC4A4B110}"/>
              </a:ext>
            </a:extLst>
          </p:cNvPr>
          <p:cNvSpPr txBox="1"/>
          <p:nvPr/>
        </p:nvSpPr>
        <p:spPr>
          <a:xfrm>
            <a:off x="9966782" y="211942"/>
            <a:ext cx="1866339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JB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금융그룹 </a:t>
            </a:r>
            <a:r>
              <a:rPr lang="en-US" altLang="ko-KR" sz="1000" b="1" i="0" u="none" strike="noStrike" cap="none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Fin:AI</a:t>
            </a: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Challenge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1" name="Google Shape;92;p1">
            <a:extLst>
              <a:ext uri="{FF2B5EF4-FFF2-40B4-BE49-F238E27FC236}">
                <a16:creationId xmlns:a16="http://schemas.microsoft.com/office/drawing/2014/main" id="{27C3F581-9604-F61B-A136-EF77720F32B6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64707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F7DE36F9-BC8E-801E-6E7C-0D03E6A9F1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160" y="6542046"/>
            <a:ext cx="1125182" cy="18996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68680" y="1664208"/>
            <a:ext cx="5074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141413"/>
                </a:solidFill>
                <a:latin typeface="Pretendard"/>
                <a:ea typeface="Pretendard"/>
              </a:rPr>
              <a:t>실제 동작하는 MVP 콘솔 (브라우저 데모)</a:t>
            </a:r>
          </a:p>
        </p:txBody>
      </p:sp>
      <p:pic>
        <p:nvPicPr>
          <p:cNvPr id="19" name="Picture 18" descr="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1956816"/>
            <a:ext cx="5074920" cy="2854642"/>
          </a:xfrm>
          <a:prstGeom prst="rect">
            <a:avLst/>
          </a:prstGeom>
          <a:ln w="12700">
            <a:solidFill>
              <a:srgbClr val="E6DFD8"/>
            </a:solidFill>
          </a:ln>
          <a:effectLst/>
        </p:spPr>
      </p:pic>
      <p:sp>
        <p:nvSpPr>
          <p:cNvPr id="20" name="TextBox 19"/>
          <p:cNvSpPr txBox="1"/>
          <p:nvPr/>
        </p:nvSpPr>
        <p:spPr>
          <a:xfrm>
            <a:off x="868680" y="4848034"/>
            <a:ext cx="5074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6C6A64"/>
                </a:solidFill>
                <a:latin typeface="Pretendard"/>
                <a:ea typeface="Pretendard"/>
              </a:rPr>
              <a:t>대시보드 — 지시 입력(Dispatch) · 라이브 AgentRun · 위험 지표 · 승인 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5122354"/>
            <a:ext cx="5074920" cy="676656"/>
          </a:xfrm>
          <a:prstGeom prst="roundRect">
            <a:avLst>
              <a:gd name="adj" fmla="val 10000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3271" y="5213794"/>
            <a:ext cx="47457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CC785C"/>
                </a:solidFill>
                <a:latin typeface="Pretendard"/>
                <a:ea typeface="Pretendard"/>
              </a:rPr>
              <a:t>MVP 범위: </a:t>
            </a:r>
            <a:r>
              <a:rPr sz="950" b="1">
                <a:solidFill>
                  <a:srgbClr val="FAF9F5"/>
                </a:solidFill>
                <a:latin typeface="Pretendard"/>
                <a:ea typeface="Pretendard"/>
              </a:rPr>
              <a:t>판단(위험 진단) → 행동(조치 초안) → 검증(승인·감사)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1" y="5488114"/>
            <a:ext cx="47457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A09D96"/>
                </a:solidFill>
                <a:latin typeface="Pretendard"/>
                <a:ea typeface="Pretendard"/>
              </a:rPr>
              <a:t>챌린지가 요구하는 AI Agent 3요소를 한 화면에서 시연 — github.com/LSB-afk/JB-Fin-AI-Challenge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1664208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141413"/>
                </a:solidFill>
                <a:latin typeface="Pretendard"/>
                <a:ea typeface="Pretendard"/>
              </a:rPr>
              <a:t>핵심 기능 6가지 — 모두 MVP에서 동작 확인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1956816"/>
            <a:ext cx="2514600" cy="1152144"/>
          </a:xfrm>
          <a:prstGeom prst="roundRect">
            <a:avLst>
              <a:gd name="adj" fmla="val 8000"/>
            </a:avLst>
          </a:prstGeom>
          <a:solidFill>
            <a:srgbClr val="F5F0E8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699248" y="2039112"/>
            <a:ext cx="969264" cy="219456"/>
          </a:xfrm>
          <a:prstGeom prst="roundRect">
            <a:avLst>
              <a:gd name="adj" fmla="val 50000"/>
            </a:avLst>
          </a:prstGeom>
          <a:solidFill>
            <a:srgbClr val="5D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  <a:ea typeface="Pretendard"/>
              </a:rPr>
              <a:t>MVP 구현 완료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2512" y="2029968"/>
            <a:ext cx="1280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413"/>
                </a:solidFill>
                <a:latin typeface="Pretendard"/>
                <a:ea typeface="Pretendard"/>
              </a:rPr>
              <a:t>Case 보드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2286000"/>
            <a:ext cx="2276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3D3D3A"/>
                </a:solidFill>
                <a:latin typeface="Pretendard"/>
                <a:ea typeface="Pretendard"/>
              </a:rPr>
              <a:t>위험 케이스를 칸반/큐로 관리, 클릭 시 근거·담당 Agent 연동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2512" y="2816352"/>
            <a:ext cx="227685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A9583E"/>
                </a:solidFill>
                <a:latin typeface="Pretendard"/>
                <a:ea typeface="Pretendard"/>
              </a:rPr>
              <a:t>해결: </a:t>
            </a:r>
            <a:r>
              <a:rPr sz="800" b="0">
                <a:solidFill>
                  <a:srgbClr val="6C6A64"/>
                </a:solidFill>
                <a:latin typeface="Pretendard"/>
                <a:ea typeface="Pretendard"/>
              </a:rPr>
              <a:t>흩어진 고객 위험의 단일 작업 화면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20" y="1956816"/>
            <a:ext cx="2514600" cy="1152144"/>
          </a:xfrm>
          <a:prstGeom prst="roundRect">
            <a:avLst>
              <a:gd name="adj" fmla="val 8000"/>
            </a:avLst>
          </a:prstGeom>
          <a:solidFill>
            <a:srgbClr val="F5F0E8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396728" y="2039112"/>
            <a:ext cx="969264" cy="219456"/>
          </a:xfrm>
          <a:prstGeom prst="roundRect">
            <a:avLst>
              <a:gd name="adj" fmla="val 50000"/>
            </a:avLst>
          </a:prstGeom>
          <a:solidFill>
            <a:srgbClr val="5D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  <a:ea typeface="Pretendard"/>
              </a:rPr>
              <a:t>MVP 구현 완료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79992" y="2029968"/>
            <a:ext cx="1280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413"/>
                </a:solidFill>
                <a:latin typeface="Pretendard"/>
                <a:ea typeface="Pretendard"/>
              </a:rPr>
              <a:t>AgentRun 실행 로그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79992" y="2286000"/>
            <a:ext cx="2276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3D3D3A"/>
                </a:solidFill>
                <a:latin typeface="Pretendard"/>
                <a:ea typeface="Pretendard"/>
              </a:rPr>
              <a:t>Run/Dispatch마다 실행 로그 생성, 상태 전이 자동 기록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79992" y="2816352"/>
            <a:ext cx="227685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A9583E"/>
                </a:solidFill>
                <a:latin typeface="Pretendard"/>
                <a:ea typeface="Pretendard"/>
              </a:rPr>
              <a:t>해결: </a:t>
            </a:r>
            <a:r>
              <a:rPr sz="800" b="0">
                <a:solidFill>
                  <a:srgbClr val="6C6A64"/>
                </a:solidFill>
                <a:latin typeface="Pretendard"/>
                <a:ea typeface="Pretendard"/>
              </a:rPr>
              <a:t>AI 판단 과정의 투명한 추적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3640" y="3218688"/>
            <a:ext cx="2514600" cy="1152144"/>
          </a:xfrm>
          <a:prstGeom prst="roundRect">
            <a:avLst>
              <a:gd name="adj" fmla="val 8000"/>
            </a:avLst>
          </a:prstGeom>
          <a:solidFill>
            <a:srgbClr val="F5F0E8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699248" y="3300984"/>
            <a:ext cx="969264" cy="219456"/>
          </a:xfrm>
          <a:prstGeom prst="roundRect">
            <a:avLst>
              <a:gd name="adj" fmla="val 50000"/>
            </a:avLst>
          </a:prstGeom>
          <a:solidFill>
            <a:srgbClr val="5D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  <a:ea typeface="Pretendard"/>
              </a:rPr>
              <a:t>MVP 구현 완료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2512" y="3291840"/>
            <a:ext cx="1280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413"/>
                </a:solidFill>
                <a:latin typeface="Pretendard"/>
                <a:ea typeface="Pretendard"/>
              </a:rPr>
              <a:t>승인 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82512" y="3547872"/>
            <a:ext cx="2276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3D3D3A"/>
                </a:solidFill>
                <a:latin typeface="Pretendard"/>
                <a:ea typeface="Pretendard"/>
              </a:rPr>
              <a:t>Approve/Reject 클릭으로 상태·감사·큐 숫자 즉시 갱신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82512" y="4078224"/>
            <a:ext cx="227685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A9583E"/>
                </a:solidFill>
                <a:latin typeface="Pretendard"/>
                <a:ea typeface="Pretendard"/>
              </a:rPr>
              <a:t>해결: </a:t>
            </a:r>
            <a:r>
              <a:rPr sz="800" b="0">
                <a:solidFill>
                  <a:srgbClr val="6C6A64"/>
                </a:solidFill>
                <a:latin typeface="Pretendard"/>
                <a:ea typeface="Pretendard"/>
              </a:rPr>
              <a:t>고객 대상 행동의 사람 통제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61120" y="3218688"/>
            <a:ext cx="2514600" cy="1152144"/>
          </a:xfrm>
          <a:prstGeom prst="roundRect">
            <a:avLst>
              <a:gd name="adj" fmla="val 8000"/>
            </a:avLst>
          </a:prstGeom>
          <a:solidFill>
            <a:srgbClr val="F5F0E8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396728" y="3300984"/>
            <a:ext cx="969264" cy="219456"/>
          </a:xfrm>
          <a:prstGeom prst="roundRect">
            <a:avLst>
              <a:gd name="adj" fmla="val 50000"/>
            </a:avLst>
          </a:prstGeom>
          <a:solidFill>
            <a:srgbClr val="5D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  <a:ea typeface="Pretendard"/>
              </a:rPr>
              <a:t>MVP 구현 완료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79992" y="3291840"/>
            <a:ext cx="1280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413"/>
                </a:solidFill>
                <a:latin typeface="Pretendard"/>
                <a:ea typeface="Pretendard"/>
              </a:rPr>
              <a:t>전세 Shield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79992" y="3547872"/>
            <a:ext cx="2276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3D3D3A"/>
                </a:solidFill>
                <a:latin typeface="Pretendard"/>
                <a:ea typeface="Pretendard"/>
              </a:rPr>
              <a:t>전세가율·권리관계·자산리스크·체크리스트·은행연계 5대 진단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79992" y="4078224"/>
            <a:ext cx="227685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A9583E"/>
                </a:solidFill>
                <a:latin typeface="Pretendard"/>
                <a:ea typeface="Pretendard"/>
              </a:rPr>
              <a:t>해결: </a:t>
            </a:r>
            <a:r>
              <a:rPr sz="800" b="0">
                <a:solidFill>
                  <a:srgbClr val="6C6A64"/>
                </a:solidFill>
                <a:latin typeface="Pretendard"/>
                <a:ea typeface="Pretendard"/>
              </a:rPr>
              <a:t>전세사기 계약 전 예방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63640" y="4480560"/>
            <a:ext cx="2514600" cy="1152144"/>
          </a:xfrm>
          <a:prstGeom prst="roundRect">
            <a:avLst>
              <a:gd name="adj" fmla="val 8000"/>
            </a:avLst>
          </a:prstGeom>
          <a:solidFill>
            <a:srgbClr val="F5F0E8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7699248" y="4562856"/>
            <a:ext cx="969264" cy="219456"/>
          </a:xfrm>
          <a:prstGeom prst="roundRect">
            <a:avLst>
              <a:gd name="adj" fmla="val 50000"/>
            </a:avLst>
          </a:prstGeom>
          <a:solidFill>
            <a:srgbClr val="5D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  <a:ea typeface="Pretendard"/>
              </a:rPr>
              <a:t>MVP 구현 완료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82512" y="4553712"/>
            <a:ext cx="1280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413"/>
                </a:solidFill>
                <a:latin typeface="Pretendard"/>
                <a:ea typeface="Pretendard"/>
              </a:rPr>
              <a:t>Skill Registry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82512" y="4809744"/>
            <a:ext cx="2276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3D3D3A"/>
                </a:solidFill>
                <a:latin typeface="Pretendard"/>
                <a:ea typeface="Pretendard"/>
              </a:rPr>
              <a:t>25종 스킬에 위험도·승인 정책 부여, Agent에 장착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82512" y="5340096"/>
            <a:ext cx="227685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A9583E"/>
                </a:solidFill>
                <a:latin typeface="Pretendard"/>
                <a:ea typeface="Pretendard"/>
              </a:rPr>
              <a:t>해결: </a:t>
            </a:r>
            <a:r>
              <a:rPr sz="800" b="0">
                <a:solidFill>
                  <a:srgbClr val="6C6A64"/>
                </a:solidFill>
                <a:latin typeface="Pretendard"/>
                <a:ea typeface="Pretendard"/>
              </a:rPr>
              <a:t>기능 확장과 내부통제의 단위화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961120" y="4480560"/>
            <a:ext cx="2514600" cy="1152144"/>
          </a:xfrm>
          <a:prstGeom prst="roundRect">
            <a:avLst>
              <a:gd name="adj" fmla="val 8000"/>
            </a:avLst>
          </a:prstGeom>
          <a:solidFill>
            <a:srgbClr val="F5F0E8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0396728" y="4562856"/>
            <a:ext cx="969264" cy="219456"/>
          </a:xfrm>
          <a:prstGeom prst="roundRect">
            <a:avLst>
              <a:gd name="adj" fmla="val 50000"/>
            </a:avLst>
          </a:prstGeom>
          <a:solidFill>
            <a:srgbClr val="5D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  <a:ea typeface="Pretendard"/>
              </a:rPr>
              <a:t>MVP 구현 완료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79992" y="4553712"/>
            <a:ext cx="1280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413"/>
                </a:solidFill>
                <a:latin typeface="Pretendard"/>
                <a:ea typeface="Pretendard"/>
              </a:rPr>
              <a:t>Audit Ledger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79992" y="4809744"/>
            <a:ext cx="2276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3D3D3A"/>
                </a:solidFill>
                <a:latin typeface="Pretendard"/>
                <a:ea typeface="Pretendard"/>
              </a:rPr>
              <a:t>근거→판단→행동→승인 전 과정을 시간순 기록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79992" y="5340096"/>
            <a:ext cx="227685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A9583E"/>
                </a:solidFill>
                <a:latin typeface="Pretendard"/>
                <a:ea typeface="Pretendard"/>
              </a:rPr>
              <a:t>해결: </a:t>
            </a:r>
            <a:r>
              <a:rPr sz="800" b="0">
                <a:solidFill>
                  <a:srgbClr val="6C6A64"/>
                </a:solidFill>
                <a:latin typeface="Pretendard"/>
                <a:ea typeface="Pretendard"/>
              </a:rPr>
              <a:t>금융권 감사·설명가능성 충족</a:t>
            </a:r>
          </a:p>
        </p:txBody>
      </p:sp>
    </p:spTree>
    <p:extLst>
      <p:ext uri="{BB962C8B-B14F-4D97-AF65-F5344CB8AC3E}">
        <p14:creationId xmlns:p14="http://schemas.microsoft.com/office/powerpoint/2010/main" val="1604416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BD8DB-3443-A102-9C42-2C56691F7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F743A085-6411-0EFC-A699-01660D683A67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F6FF1F-0E89-66A7-7227-BC7AA6E81C3C}"/>
              </a:ext>
            </a:extLst>
          </p:cNvPr>
          <p:cNvSpPr txBox="1"/>
          <p:nvPr/>
        </p:nvSpPr>
        <p:spPr>
          <a:xfrm>
            <a:off x="939332" y="1189703"/>
            <a:ext cx="39669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5. </a:t>
            </a:r>
            <a:r>
              <a:rPr lang="ko-KR" altLang="en-US" dirty="0">
                <a:latin typeface="+mj-ea"/>
                <a:ea typeface="+mj-ea"/>
              </a:rPr>
              <a:t>데이터 및 기술 활용 </a:t>
            </a:r>
            <a:r>
              <a:rPr lang="en-US" altLang="ko-KR" dirty="0">
                <a:latin typeface="+mj-ea"/>
                <a:ea typeface="+mj-ea"/>
              </a:rPr>
              <a:t>(Data &amp; Tech)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6E9B4B97-E58C-7529-3DC0-F31DEFF65D1B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Google Shape;102;p2">
            <a:extLst>
              <a:ext uri="{FF2B5EF4-FFF2-40B4-BE49-F238E27FC236}">
                <a16:creationId xmlns:a16="http://schemas.microsoft.com/office/drawing/2014/main" id="{FA49E26B-9CE5-618A-B798-389BF794A1C3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- 5.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및 기술 활용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(Data &amp; Tech)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" name="Google Shape;105;p2">
            <a:extLst>
              <a:ext uri="{FF2B5EF4-FFF2-40B4-BE49-F238E27FC236}">
                <a16:creationId xmlns:a16="http://schemas.microsoft.com/office/drawing/2014/main" id="{079A4C84-B810-1D03-C217-CA40A93EBF16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2178B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" name="Google Shape;99;p2">
            <a:extLst>
              <a:ext uri="{FF2B5EF4-FFF2-40B4-BE49-F238E27FC236}">
                <a16:creationId xmlns:a16="http://schemas.microsoft.com/office/drawing/2014/main" id="{FEFA25AC-315F-E1A0-5965-0ADA362A1EDC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04B9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101;p2">
            <a:extLst>
              <a:ext uri="{FF2B5EF4-FFF2-40B4-BE49-F238E27FC236}">
                <a16:creationId xmlns:a16="http://schemas.microsoft.com/office/drawing/2014/main" id="{C3FB278B-321F-4FD4-1029-71569634D73A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rgbClr val="2691C5"/>
          </a:solidFill>
          <a:ln>
            <a:solidFill>
              <a:srgbClr val="FFFFFF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" name="Google Shape;100;p2">
            <a:extLst>
              <a:ext uri="{FF2B5EF4-FFF2-40B4-BE49-F238E27FC236}">
                <a16:creationId xmlns:a16="http://schemas.microsoft.com/office/drawing/2014/main" id="{4298532A-6309-4CFB-816D-A1D013C9D5D0}"/>
              </a:ext>
            </a:extLst>
          </p:cNvPr>
          <p:cNvSpPr txBox="1"/>
          <p:nvPr/>
        </p:nvSpPr>
        <p:spPr>
          <a:xfrm>
            <a:off x="9966782" y="211942"/>
            <a:ext cx="1866339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JB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금융그룹 </a:t>
            </a:r>
            <a:r>
              <a:rPr lang="en-US" altLang="ko-KR" sz="1000" b="1" i="0" u="none" strike="noStrike" cap="none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Fin:AI</a:t>
            </a: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Challenge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1" name="Google Shape;92;p1">
            <a:extLst>
              <a:ext uri="{FF2B5EF4-FFF2-40B4-BE49-F238E27FC236}">
                <a16:creationId xmlns:a16="http://schemas.microsoft.com/office/drawing/2014/main" id="{4A83B29B-6384-C7B9-B0DB-6ACE69119229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64707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7A87DCD-64A0-C1AB-3174-F4C46EFFC1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160" y="6542046"/>
            <a:ext cx="1125182" cy="18996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68680" y="166420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141413"/>
                </a:solidFill>
                <a:latin typeface="Pretendard"/>
                <a:ea typeface="Pretendard"/>
              </a:rPr>
              <a:t>활용 데이터 — 공개 · 공식 출처 우선, 출처 전부 명시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1956816"/>
            <a:ext cx="5486400" cy="640080"/>
          </a:xfrm>
          <a:prstGeom prst="roundRect">
            <a:avLst>
              <a:gd name="adj" fmla="val 8000"/>
            </a:avLst>
          </a:prstGeom>
          <a:solidFill>
            <a:srgbClr val="FAF9F5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2029968"/>
            <a:ext cx="1234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A9583E"/>
                </a:solidFill>
                <a:latin typeface="Pretendard"/>
                <a:ea typeface="Pretendard"/>
              </a:rPr>
              <a:t>공공 · 공식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2029968"/>
            <a:ext cx="27432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3D3D3A"/>
                </a:solidFill>
                <a:latin typeface="Pretendard"/>
                <a:ea typeface="Pretendard"/>
              </a:rPr>
              <a:t>HUG 안심전세(시세·전세가율·보증) · 국토교통부 보도자료 · 금융위 보이스피싱 경보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56632" y="2029968"/>
            <a:ext cx="11887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750" b="0">
                <a:solidFill>
                  <a:srgbClr val="8E8B82"/>
                </a:solidFill>
                <a:latin typeface="Pretendard"/>
                <a:ea typeface="Pretendard"/>
              </a:rPr>
              <a:t>공개 자료 · 출처 표기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2670048"/>
            <a:ext cx="5486400" cy="640080"/>
          </a:xfrm>
          <a:prstGeom prst="roundRect">
            <a:avLst>
              <a:gd name="adj" fmla="val 8000"/>
            </a:avLst>
          </a:prstGeom>
          <a:solidFill>
            <a:srgbClr val="FAF9F5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6695" y="2743200"/>
            <a:ext cx="1234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A9583E"/>
                </a:solidFill>
                <a:latin typeface="Pretendard"/>
                <a:ea typeface="Pretendard"/>
              </a:rPr>
              <a:t>시장 · 언론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2743200"/>
            <a:ext cx="27432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3D3D3A"/>
                </a:solidFill>
                <a:latin typeface="Pretendard"/>
                <a:ea typeface="Pretendard"/>
              </a:rPr>
              <a:t>연합뉴스 · 쿠키뉴스 등 지역 경기/금리 부담 기사 (Pain Radar 수집 대상)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56632" y="2743200"/>
            <a:ext cx="11887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750" b="0">
                <a:solidFill>
                  <a:srgbClr val="8E8B82"/>
                </a:solidFill>
                <a:latin typeface="Pretendard"/>
                <a:ea typeface="Pretendard"/>
              </a:rPr>
              <a:t>링크 단위 근거 연결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3383280"/>
            <a:ext cx="5486400" cy="640080"/>
          </a:xfrm>
          <a:prstGeom prst="roundRect">
            <a:avLst>
              <a:gd name="adj" fmla="val 8000"/>
            </a:avLst>
          </a:prstGeom>
          <a:solidFill>
            <a:srgbClr val="FAF9F5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6695" y="3456432"/>
            <a:ext cx="1234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A9583E"/>
                </a:solidFill>
                <a:latin typeface="Pretendard"/>
                <a:ea typeface="Pretendard"/>
              </a:rPr>
              <a:t>JB 공식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0" y="3456432"/>
            <a:ext cx="27432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3D3D3A"/>
                </a:solidFill>
                <a:latin typeface="Pretendard"/>
                <a:ea typeface="Pretendard"/>
              </a:rPr>
              <a:t>JB금융그룹 계열사 현황 · JB-네이버클라우드 AI 업무협약 (jbfg.com)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56632" y="3456432"/>
            <a:ext cx="11887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750" b="0">
                <a:solidFill>
                  <a:srgbClr val="8E8B82"/>
                </a:solidFill>
                <a:latin typeface="Pretendard"/>
                <a:ea typeface="Pretendard"/>
              </a:rPr>
              <a:t>사업 연계성 근거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8680" y="4096512"/>
            <a:ext cx="5486400" cy="640080"/>
          </a:xfrm>
          <a:prstGeom prst="roundRect">
            <a:avLst>
              <a:gd name="adj" fmla="val 8000"/>
            </a:avLst>
          </a:prstGeom>
          <a:solidFill>
            <a:srgbClr val="FAF9F5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6695" y="4169664"/>
            <a:ext cx="1234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A9583E"/>
                </a:solidFill>
                <a:latin typeface="Pretendard"/>
                <a:ea typeface="Pretendard"/>
              </a:rPr>
              <a:t>내부 운영(목업)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6000" y="4169664"/>
            <a:ext cx="27432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3D3D3A"/>
                </a:solidFill>
                <a:latin typeface="Pretendard"/>
                <a:ea typeface="Pretendard"/>
              </a:rPr>
              <a:t>상담 노트 · 케이스 이력 · 승인 기록 — MVP는 가상 데이터로 구성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56632" y="4169664"/>
            <a:ext cx="11887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750" b="0">
                <a:solidFill>
                  <a:srgbClr val="8E8B82"/>
                </a:solidFill>
                <a:latin typeface="Pretendard"/>
                <a:ea typeface="Pretendard"/>
              </a:rPr>
              <a:t>개인정보 마스킹 전제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1664208"/>
            <a:ext cx="4800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141413"/>
                </a:solidFill>
                <a:latin typeface="Pretendard"/>
                <a:ea typeface="Pretendard"/>
              </a:rPr>
              <a:t>기술 구성 — 현재 MVP와 본선 목표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75120" y="1956816"/>
            <a:ext cx="4800600" cy="2706624"/>
          </a:xfrm>
          <a:prstGeom prst="roundRect">
            <a:avLst>
              <a:gd name="adj" fmla="val 6000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39712" y="2066544"/>
            <a:ext cx="447141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5DB8A6"/>
                </a:solidFill>
                <a:latin typeface="Pretendard"/>
                <a:ea typeface="Pretendard"/>
              </a:rPr>
              <a:t>$ 현재 MVP  (예선 · 구현 완료)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2286000"/>
            <a:ext cx="43616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A09D96"/>
                </a:solidFill>
                <a:latin typeface="Pretendard"/>
                <a:ea typeface="Pretendard"/>
              </a:rPr>
              <a:t>· Vanilla JS/CSS 정적 콘솔 — 외부 의존성 0, 브라우저만으로 시연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2505456"/>
            <a:ext cx="43616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A09D96"/>
                </a:solidFill>
                <a:latin typeface="Pretendard"/>
                <a:ea typeface="Pretendard"/>
              </a:rPr>
              <a:t>· 상태 모델: Case · AgentRun · Approval · Audit 상호 연동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2724912"/>
            <a:ext cx="43616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A09D96"/>
                </a:solidFill>
                <a:latin typeface="Pretendard"/>
                <a:ea typeface="Pretendard"/>
              </a:rPr>
              <a:t>· GitHub 공개: github.com/LSB-afk/JB-Fin-AI-Challenge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39712" y="3035808"/>
            <a:ext cx="447141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E8A55A"/>
                </a:solidFill>
                <a:latin typeface="Pretendard"/>
                <a:ea typeface="Pretendard"/>
              </a:rPr>
              <a:t>$ 본선 목표 아키텍처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9440" y="3273552"/>
            <a:ext cx="43616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A09D96"/>
                </a:solidFill>
                <a:latin typeface="Pretendard"/>
                <a:ea typeface="Pretendard"/>
              </a:rPr>
              <a:t>· LLM — 위험 판단 요약 · 조치 초안 생성 (Claude 등 상용 API)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3493008"/>
            <a:ext cx="43616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A09D96"/>
                </a:solidFill>
                <a:latin typeface="Pretendard"/>
                <a:ea typeface="Pretendard"/>
              </a:rPr>
              <a:t>· RAG — HUG·국토부·금융위 공개자료 검색으로 근거 강제 연결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3712464"/>
            <a:ext cx="43616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A09D96"/>
                </a:solidFill>
                <a:latin typeface="Pretendard"/>
                <a:ea typeface="Pretendard"/>
              </a:rPr>
              <a:t>· Rule Engine — 승인 레벨(L0–L4) · 금지 행동 정책 판정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9440" y="3931920"/>
            <a:ext cx="43616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A09D96"/>
                </a:solidFill>
                <a:latin typeface="Pretendard"/>
                <a:ea typeface="Pretendard"/>
              </a:rPr>
              <a:t>· Multi-Agent — Orchestrator가 전문 Agent에 스킬 주입 · 배정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49440" y="4151376"/>
            <a:ext cx="43616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A09D96"/>
                </a:solidFill>
                <a:latin typeface="Pretendard"/>
                <a:ea typeface="Pretendard"/>
              </a:rPr>
              <a:t>· 외부 API — 공공 데이터 우선, 상용 API는 라이선스 검토 후 사용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" y="4828032"/>
            <a:ext cx="10607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141413"/>
                </a:solidFill>
                <a:latin typeface="Pretendard"/>
                <a:ea typeface="Pretendard"/>
              </a:rPr>
              <a:t>기술적 제약과 해결 전략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68680" y="5084064"/>
            <a:ext cx="3413759" cy="658368"/>
          </a:xfrm>
          <a:prstGeom prst="roundRect">
            <a:avLst>
              <a:gd name="adj" fmla="val 8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96695" y="5157216"/>
            <a:ext cx="31577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A9583E"/>
                </a:solidFill>
                <a:latin typeface="Pretendard"/>
                <a:ea typeface="Pretendard"/>
              </a:rPr>
              <a:t>환각(Hallucination)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6695" y="5358384"/>
            <a:ext cx="3157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3D3D3A"/>
                </a:solidFill>
                <a:latin typeface="Pretendard"/>
                <a:ea typeface="Pretendard"/>
              </a:rPr>
              <a:t>모든 판단에 출처 링크 강제 + 확정 표현 금지 + 사람 승인 게이트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465320" y="5084064"/>
            <a:ext cx="3413759" cy="658368"/>
          </a:xfrm>
          <a:prstGeom prst="roundRect">
            <a:avLst>
              <a:gd name="adj" fmla="val 8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93335" y="5157216"/>
            <a:ext cx="31577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A9583E"/>
                </a:solidFill>
                <a:latin typeface="Pretendard"/>
                <a:ea typeface="Pretendard"/>
              </a:rPr>
              <a:t>개인정보 · 내부통제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93335" y="5358384"/>
            <a:ext cx="3157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3D3D3A"/>
                </a:solidFill>
                <a:latin typeface="Pretendard"/>
                <a:ea typeface="Pretendard"/>
              </a:rPr>
              <a:t>마스킹 처리 · L0–L4 승인 레벨 · 전 과정 감사 로그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061960" y="5084064"/>
            <a:ext cx="3413759" cy="658368"/>
          </a:xfrm>
          <a:prstGeom prst="roundRect">
            <a:avLst>
              <a:gd name="adj" fmla="val 8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189976" y="5157216"/>
            <a:ext cx="31577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A9583E"/>
                </a:solidFill>
                <a:latin typeface="Pretendard"/>
                <a:ea typeface="Pretendard"/>
              </a:rPr>
              <a:t>법률 판단 한계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89976" y="5358384"/>
            <a:ext cx="3157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3D3D3A"/>
                </a:solidFill>
                <a:latin typeface="Pretendard"/>
                <a:ea typeface="Pretendard"/>
              </a:rPr>
              <a:t>등기·보증은 원문 확인 절차 명시, 특약은 초안만 제공(법무 검토)</a:t>
            </a:r>
          </a:p>
        </p:txBody>
      </p:sp>
    </p:spTree>
    <p:extLst>
      <p:ext uri="{BB962C8B-B14F-4D97-AF65-F5344CB8AC3E}">
        <p14:creationId xmlns:p14="http://schemas.microsoft.com/office/powerpoint/2010/main" val="3147750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D2E15-49DB-DBA2-9F76-5D086ABD6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89093888-EE73-841E-FF7E-3153D90098AB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65450A-C406-F66D-7246-8B3CE4B5F9FE}"/>
              </a:ext>
            </a:extLst>
          </p:cNvPr>
          <p:cNvSpPr txBox="1"/>
          <p:nvPr/>
        </p:nvSpPr>
        <p:spPr>
          <a:xfrm>
            <a:off x="939332" y="1189703"/>
            <a:ext cx="39276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6. </a:t>
            </a:r>
            <a:r>
              <a:rPr lang="ko-KR" altLang="en-US" dirty="0">
                <a:latin typeface="+mj-ea"/>
                <a:ea typeface="+mj-ea"/>
              </a:rPr>
              <a:t>사용자 시나리오</a:t>
            </a:r>
            <a:r>
              <a:rPr lang="en-US" altLang="ko-KR" dirty="0">
                <a:latin typeface="+mj-ea"/>
                <a:ea typeface="+mj-ea"/>
              </a:rPr>
              <a:t>/</a:t>
            </a:r>
            <a:r>
              <a:rPr lang="ko-KR" altLang="en-US" dirty="0" err="1">
                <a:latin typeface="+mj-ea"/>
                <a:ea typeface="+mj-ea"/>
              </a:rPr>
              <a:t>유즈케이스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en-US" altLang="ko-KR" dirty="0">
                <a:latin typeface="+mj-ea"/>
                <a:ea typeface="+mj-ea"/>
              </a:rPr>
              <a:t>(User Scenario)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A66DB5E4-99DB-B891-A402-F82B9BBE8824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Google Shape;102;p2">
            <a:extLst>
              <a:ext uri="{FF2B5EF4-FFF2-40B4-BE49-F238E27FC236}">
                <a16:creationId xmlns:a16="http://schemas.microsoft.com/office/drawing/2014/main" id="{BF138AD5-46CB-5ED6-B503-1D82E8C60406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6.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시나리오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/</a:t>
            </a:r>
            <a:r>
              <a:rPr lang="ko-KR" altLang="en-US" sz="13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유즈케이스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(User Scenario)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" name="Google Shape;105;p2">
            <a:extLst>
              <a:ext uri="{FF2B5EF4-FFF2-40B4-BE49-F238E27FC236}">
                <a16:creationId xmlns:a16="http://schemas.microsoft.com/office/drawing/2014/main" id="{4F08504B-62BA-7251-2E25-26E6287BEF1D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2178B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" name="Google Shape;99;p2">
            <a:extLst>
              <a:ext uri="{FF2B5EF4-FFF2-40B4-BE49-F238E27FC236}">
                <a16:creationId xmlns:a16="http://schemas.microsoft.com/office/drawing/2014/main" id="{63EA3688-0705-1D30-C6B6-8371FE7270DF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04B9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101;p2">
            <a:extLst>
              <a:ext uri="{FF2B5EF4-FFF2-40B4-BE49-F238E27FC236}">
                <a16:creationId xmlns:a16="http://schemas.microsoft.com/office/drawing/2014/main" id="{3A377AC2-CD2F-4E5E-BFEF-BC152D4D8A94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rgbClr val="2691C5"/>
          </a:solidFill>
          <a:ln>
            <a:solidFill>
              <a:srgbClr val="FFFFFF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" name="Google Shape;100;p2">
            <a:extLst>
              <a:ext uri="{FF2B5EF4-FFF2-40B4-BE49-F238E27FC236}">
                <a16:creationId xmlns:a16="http://schemas.microsoft.com/office/drawing/2014/main" id="{DE75EC79-02E8-59C5-C459-D64C66C7424C}"/>
              </a:ext>
            </a:extLst>
          </p:cNvPr>
          <p:cNvSpPr txBox="1"/>
          <p:nvPr/>
        </p:nvSpPr>
        <p:spPr>
          <a:xfrm>
            <a:off x="9966782" y="211942"/>
            <a:ext cx="1866339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JB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금융그룹 </a:t>
            </a:r>
            <a:r>
              <a:rPr lang="en-US" altLang="ko-KR" sz="1000" b="1" i="0" u="none" strike="noStrike" cap="none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Fin:AI</a:t>
            </a: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Challenge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1" name="Google Shape;92;p1">
            <a:extLst>
              <a:ext uri="{FF2B5EF4-FFF2-40B4-BE49-F238E27FC236}">
                <a16:creationId xmlns:a16="http://schemas.microsoft.com/office/drawing/2014/main" id="{ADDEC6D0-1DC9-520B-6922-5931B049566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64707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79C5A4A6-1242-C668-4A8A-4203C1792A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160" y="6542046"/>
            <a:ext cx="1125182" cy="18996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68680" y="1664208"/>
            <a:ext cx="10607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141413"/>
                </a:solidFill>
                <a:latin typeface="Pretendard"/>
                <a:ea typeface="Pretendard"/>
              </a:rPr>
              <a:t>대표 유스케이스 — 전세 Shield  </a:t>
            </a:r>
            <a:r>
              <a:rPr sz="950" b="0">
                <a:solidFill>
                  <a:srgbClr val="6C6A64"/>
                </a:solidFill>
                <a:latin typeface="Pretendard"/>
                <a:ea typeface="Pretendard"/>
              </a:rPr>
              <a:t>(청년 고객이 전세계약 전에 은행을 통해 위험을 진단받는 흐름)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1938528"/>
            <a:ext cx="868680" cy="237744"/>
          </a:xfrm>
          <a:prstGeom prst="roundRect">
            <a:avLst>
              <a:gd name="adj" fmla="val 50000"/>
            </a:avLst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800" b="1">
                <a:solidFill>
                  <a:srgbClr val="141413"/>
                </a:solidFill>
                <a:latin typeface="Pretendard"/>
                <a:ea typeface="Pretendard"/>
              </a:rPr>
              <a:t>고객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0" y="1938528"/>
            <a:ext cx="868680" cy="237744"/>
          </a:xfrm>
          <a:prstGeom prst="roundRect">
            <a:avLst>
              <a:gd name="adj" fmla="val 50000"/>
            </a:avLst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800" b="1">
                <a:solidFill>
                  <a:srgbClr val="FFFFFF"/>
                </a:solidFill>
                <a:latin typeface="Pretendard"/>
                <a:ea typeface="Pretendard"/>
              </a:rPr>
              <a:t>RM(은행)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88920" y="1938528"/>
            <a:ext cx="868680" cy="237744"/>
          </a:xfrm>
          <a:prstGeom prst="roundRect">
            <a:avLst>
              <a:gd name="adj" fmla="val 50000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800" b="1">
                <a:solidFill>
                  <a:srgbClr val="FAF9F5"/>
                </a:solidFill>
                <a:latin typeface="Pretendard"/>
                <a:ea typeface="Pretendard"/>
              </a:rPr>
              <a:t>AI Agent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49039" y="1938528"/>
            <a:ext cx="868680" cy="237744"/>
          </a:xfrm>
          <a:prstGeom prst="roundRect">
            <a:avLst>
              <a:gd name="adj" fmla="val 50000"/>
            </a:avLst>
          </a:prstGeom>
          <a:solidFill>
            <a:srgbClr val="5D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800" b="1">
                <a:solidFill>
                  <a:srgbClr val="FFFFFF"/>
                </a:solidFill>
                <a:latin typeface="Pretendard"/>
                <a:ea typeface="Pretendard"/>
              </a:rPr>
              <a:t>검증·승인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2286000"/>
            <a:ext cx="1327186" cy="969264"/>
          </a:xfrm>
          <a:prstGeom prst="roundRect">
            <a:avLst>
              <a:gd name="adj" fmla="val 12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" y="2359152"/>
            <a:ext cx="118088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41413"/>
                </a:solidFill>
                <a:latin typeface="Pretendard"/>
                <a:ea typeface="Pretendard"/>
              </a:rPr>
              <a:t>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" y="2596896"/>
            <a:ext cx="118088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41413"/>
                </a:solidFill>
                <a:latin typeface="Pretendard"/>
                <a:ea typeface="Pretendard"/>
              </a:rPr>
              <a:t>전세계약 전</a:t>
            </a:r>
          </a:p>
          <a:p>
            <a:pPr algn="l">
              <a:spcAft>
                <a:spcPts val="0"/>
              </a:spcAft>
            </a:pPr>
            <a:r>
              <a:rPr sz="850" b="1">
                <a:solidFill>
                  <a:srgbClr val="141413"/>
                </a:solidFill>
                <a:latin typeface="Pretendard"/>
                <a:ea typeface="Pretendard"/>
              </a:rPr>
              <a:t>상담 신청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209582" y="2770632"/>
            <a:ext cx="192024" cy="0"/>
          </a:xfrm>
          <a:prstGeom prst="line">
            <a:avLst/>
          </a:prstGeom>
          <a:ln w="15240">
            <a:solidFill>
              <a:srgbClr val="6C6A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2415322" y="2286000"/>
            <a:ext cx="1327186" cy="969264"/>
          </a:xfrm>
          <a:prstGeom prst="roundRect">
            <a:avLst>
              <a:gd name="adj" fmla="val 12000"/>
            </a:avLst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88474" y="2359152"/>
            <a:ext cx="118088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Pretendard"/>
                <a:ea typeface="Pretendard"/>
              </a:rPr>
              <a:t>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88474" y="2596896"/>
            <a:ext cx="118088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Pretendard"/>
                <a:ea typeface="Pretendard"/>
              </a:rPr>
              <a:t>Case 생성</a:t>
            </a:r>
          </a:p>
          <a:p>
            <a:pPr algn="l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Pretendard"/>
                <a:ea typeface="Pretendard"/>
              </a:rPr>
              <a:t>JBG-201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756224" y="2770632"/>
            <a:ext cx="192024" cy="0"/>
          </a:xfrm>
          <a:prstGeom prst="line">
            <a:avLst/>
          </a:prstGeom>
          <a:ln w="15240">
            <a:solidFill>
              <a:srgbClr val="6C6A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961964" y="2286000"/>
            <a:ext cx="1327186" cy="969264"/>
          </a:xfrm>
          <a:prstGeom prst="roundRect">
            <a:avLst>
              <a:gd name="adj" fmla="val 12000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35116" y="2359152"/>
            <a:ext cx="118088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AF9F5"/>
                </a:solidFill>
                <a:latin typeface="Pretendard"/>
                <a:ea typeface="Pretendard"/>
              </a:rPr>
              <a:t>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35116" y="2596896"/>
            <a:ext cx="118088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FAF9F5"/>
                </a:solidFill>
                <a:latin typeface="Pretendard"/>
                <a:ea typeface="Pretendard"/>
              </a:rPr>
              <a:t>전세가율·권리관계</a:t>
            </a:r>
          </a:p>
          <a:p>
            <a:pPr algn="l">
              <a:spcAft>
                <a:spcPts val="0"/>
              </a:spcAft>
            </a:pPr>
            <a:r>
              <a:rPr sz="850" b="1">
                <a:solidFill>
                  <a:srgbClr val="FAF9F5"/>
                </a:solidFill>
                <a:latin typeface="Pretendard"/>
                <a:ea typeface="Pretendard"/>
              </a:rPr>
              <a:t>·자산 리스크 진단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302866" y="2770632"/>
            <a:ext cx="192024" cy="0"/>
          </a:xfrm>
          <a:prstGeom prst="line">
            <a:avLst/>
          </a:prstGeom>
          <a:ln w="15240">
            <a:solidFill>
              <a:srgbClr val="6C6A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508606" y="2286000"/>
            <a:ext cx="1327186" cy="969264"/>
          </a:xfrm>
          <a:prstGeom prst="roundRect">
            <a:avLst>
              <a:gd name="adj" fmla="val 12000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81758" y="2359152"/>
            <a:ext cx="118088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AF9F5"/>
                </a:solidFill>
                <a:latin typeface="Pretendard"/>
                <a:ea typeface="Pretendard"/>
              </a:rPr>
              <a:t>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81758" y="2596896"/>
            <a:ext cx="118088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FAF9F5"/>
                </a:solidFill>
                <a:latin typeface="Pretendard"/>
                <a:ea typeface="Pretendard"/>
              </a:rPr>
              <a:t>체크리스트 +</a:t>
            </a:r>
          </a:p>
          <a:p>
            <a:pPr algn="l">
              <a:spcAft>
                <a:spcPts val="0"/>
              </a:spcAft>
            </a:pPr>
            <a:r>
              <a:rPr sz="850" b="1">
                <a:solidFill>
                  <a:srgbClr val="FAF9F5"/>
                </a:solidFill>
                <a:latin typeface="Pretendard"/>
                <a:ea typeface="Pretendard"/>
              </a:rPr>
              <a:t>특약 초안 생성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849509" y="2770632"/>
            <a:ext cx="192024" cy="0"/>
          </a:xfrm>
          <a:prstGeom prst="line">
            <a:avLst/>
          </a:prstGeom>
          <a:ln w="15240">
            <a:solidFill>
              <a:srgbClr val="6C6A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055249" y="2286000"/>
            <a:ext cx="1327186" cy="969264"/>
          </a:xfrm>
          <a:prstGeom prst="roundRect">
            <a:avLst>
              <a:gd name="adj" fmla="val 12000"/>
            </a:avLst>
          </a:prstGeom>
          <a:solidFill>
            <a:srgbClr val="5D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28401" y="2359152"/>
            <a:ext cx="118088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Pretendard"/>
                <a:ea typeface="Pretendard"/>
              </a:rPr>
              <a:t>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28401" y="2596896"/>
            <a:ext cx="118088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Pretendard"/>
                <a:ea typeface="Pretendard"/>
              </a:rPr>
              <a:t>Compliance</a:t>
            </a:r>
          </a:p>
          <a:p>
            <a:pPr algn="l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Pretendard"/>
                <a:ea typeface="Pretendard"/>
              </a:rPr>
              <a:t>표현·준법 검토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396151" y="2770632"/>
            <a:ext cx="192024" cy="0"/>
          </a:xfrm>
          <a:prstGeom prst="line">
            <a:avLst/>
          </a:prstGeom>
          <a:ln w="15240">
            <a:solidFill>
              <a:srgbClr val="6C6A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8601891" y="2286000"/>
            <a:ext cx="1327186" cy="969264"/>
          </a:xfrm>
          <a:prstGeom prst="roundRect">
            <a:avLst>
              <a:gd name="adj" fmla="val 12000"/>
            </a:avLst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75043" y="2359152"/>
            <a:ext cx="118088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Pretendard"/>
                <a:ea typeface="Pretendard"/>
              </a:rPr>
              <a:t>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75043" y="2596896"/>
            <a:ext cx="118088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Pretendard"/>
                <a:ea typeface="Pretendard"/>
              </a:rPr>
              <a:t>RM 승인</a:t>
            </a:r>
          </a:p>
          <a:p>
            <a:pPr algn="l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Pretendard"/>
                <a:ea typeface="Pretendard"/>
              </a:rPr>
              <a:t>Approve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942793" y="2770632"/>
            <a:ext cx="192024" cy="0"/>
          </a:xfrm>
          <a:prstGeom prst="line">
            <a:avLst/>
          </a:prstGeom>
          <a:ln w="15240">
            <a:solidFill>
              <a:srgbClr val="6C6A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10148533" y="2286000"/>
            <a:ext cx="1327186" cy="969264"/>
          </a:xfrm>
          <a:prstGeom prst="roundRect">
            <a:avLst>
              <a:gd name="adj" fmla="val 12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221685" y="2359152"/>
            <a:ext cx="118088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41413"/>
                </a:solidFill>
                <a:latin typeface="Pretendard"/>
                <a:ea typeface="Pretendard"/>
              </a:rPr>
              <a:t>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21685" y="2596896"/>
            <a:ext cx="118088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41413"/>
                </a:solidFill>
                <a:latin typeface="Pretendard"/>
                <a:ea typeface="Pretendard"/>
              </a:rPr>
              <a:t>안전 계약 가이드</a:t>
            </a:r>
          </a:p>
          <a:p>
            <a:pPr algn="l">
              <a:spcAft>
                <a:spcPts val="0"/>
              </a:spcAft>
            </a:pPr>
            <a:r>
              <a:rPr sz="850" b="1">
                <a:solidFill>
                  <a:srgbClr val="141413"/>
                </a:solidFill>
                <a:latin typeface="Pretendard"/>
                <a:ea typeface="Pretendard"/>
              </a:rPr>
              <a:t>+ 대출·보증 상담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" y="3310128"/>
            <a:ext cx="10607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A9583E"/>
                </a:solidFill>
                <a:latin typeface="Pretendard"/>
                <a:ea typeface="Pretendard"/>
              </a:rPr>
              <a:t>안전 정책: </a:t>
            </a:r>
            <a:r>
              <a:rPr sz="850" b="0">
                <a:solidFill>
                  <a:srgbClr val="6C6A64"/>
                </a:solidFill>
                <a:latin typeface="Pretendard"/>
                <a:ea typeface="Pretendard"/>
              </a:rPr>
              <a:t>법률 확정 표현 금지 · 등기/보증은 원문 확인 · 특약은 초안만 · 은행 연계는 고객 동의 + RM 승인 후 진행</a:t>
            </a:r>
          </a:p>
        </p:txBody>
      </p:sp>
      <p:pic>
        <p:nvPicPr>
          <p:cNvPr id="51" name="Picture 50" descr="jeon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621024"/>
            <a:ext cx="5074920" cy="2026796"/>
          </a:xfrm>
          <a:prstGeom prst="rect">
            <a:avLst/>
          </a:prstGeom>
          <a:ln w="12700">
            <a:solidFill>
              <a:srgbClr val="E6DFD8"/>
            </a:solidFill>
          </a:ln>
          <a:effectLst/>
        </p:spPr>
      </p:pic>
      <p:sp>
        <p:nvSpPr>
          <p:cNvPr id="52" name="TextBox 51"/>
          <p:cNvSpPr txBox="1"/>
          <p:nvPr/>
        </p:nvSpPr>
        <p:spPr>
          <a:xfrm>
            <a:off x="868680" y="5684396"/>
            <a:ext cx="5074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C6A64"/>
                </a:solidFill>
                <a:latin typeface="Pretendard"/>
                <a:ea typeface="Pretendard"/>
              </a:rPr>
              <a:t>MVP 전세 Shield 화면 — 5대 진단 기능과 케이스(JBG-201) 연동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263640" y="3621024"/>
            <a:ext cx="5212080" cy="2176272"/>
          </a:xfrm>
          <a:prstGeom prst="roundRect">
            <a:avLst>
              <a:gd name="adj" fmla="val 8000"/>
            </a:avLst>
          </a:prstGeom>
          <a:solidFill>
            <a:srgbClr val="F5F0E8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9944" y="3712463"/>
            <a:ext cx="49194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413"/>
                </a:solidFill>
                <a:latin typeface="Pretendard"/>
                <a:ea typeface="Pretendard"/>
              </a:rPr>
              <a:t>보조 유스케이스 — 소상공인 자금압박 케어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9944" y="3986784"/>
            <a:ext cx="49194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A9583E"/>
                </a:solidFill>
                <a:latin typeface="Pretendard"/>
                <a:ea typeface="Pretendard"/>
              </a:rPr>
              <a:t>1. </a:t>
            </a:r>
            <a:r>
              <a:rPr sz="850" b="0">
                <a:solidFill>
                  <a:srgbClr val="3D3D3A"/>
                </a:solidFill>
                <a:latin typeface="Pretendard"/>
                <a:ea typeface="Pretendard"/>
              </a:rPr>
              <a:t>전주 카페 사장님 케이스에 매출 둔화 + 금리 부담 신호 감지 (Pain Radar)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9944" y="4407408"/>
            <a:ext cx="49194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A9583E"/>
                </a:solidFill>
                <a:latin typeface="Pretendard"/>
                <a:ea typeface="Pretendard"/>
              </a:rPr>
              <a:t>2. </a:t>
            </a:r>
            <a:r>
              <a:rPr sz="850" b="0">
                <a:solidFill>
                  <a:srgbClr val="3D3D3A"/>
                </a:solidFill>
                <a:latin typeface="Pretendard"/>
                <a:ea typeface="Pretendard"/>
              </a:rPr>
              <a:t>Cashflow Triage가 상환 스트레스 판단 → Policy Match가 정책금융·서류 체크리스트 생성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9944" y="4828032"/>
            <a:ext cx="49194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A9583E"/>
                </a:solidFill>
                <a:latin typeface="Pretendard"/>
                <a:ea typeface="Pretendard"/>
              </a:rPr>
              <a:t>3. </a:t>
            </a:r>
            <a:r>
              <a:rPr sz="850" b="0">
                <a:solidFill>
                  <a:srgbClr val="3D3D3A"/>
                </a:solidFill>
                <a:latin typeface="Pretendard"/>
                <a:ea typeface="Pretendard"/>
              </a:rPr>
              <a:t>RM Copilot이 콜백 초안 작성 → Compliance 검토 → RM 승인 후 고객 안내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9944" y="5248656"/>
            <a:ext cx="49194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A9583E"/>
                </a:solidFill>
                <a:latin typeface="Pretendard"/>
                <a:ea typeface="Pretendard"/>
              </a:rPr>
              <a:t>4. </a:t>
            </a:r>
            <a:r>
              <a:rPr sz="850" b="0">
                <a:solidFill>
                  <a:srgbClr val="3D3D3A"/>
                </a:solidFill>
                <a:latin typeface="Pretendard"/>
                <a:ea typeface="Pretendard"/>
              </a:rPr>
              <a:t>전 과정이 Audit Ledger에 기록 — 사후관리 누락과 책임소재 문제 해소</a:t>
            </a:r>
          </a:p>
        </p:txBody>
      </p:sp>
    </p:spTree>
    <p:extLst>
      <p:ext uri="{BB962C8B-B14F-4D97-AF65-F5344CB8AC3E}">
        <p14:creationId xmlns:p14="http://schemas.microsoft.com/office/powerpoint/2010/main" val="942389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5D1B5-3FFF-C59F-69EE-822AEA56D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D838C0B-5529-7B58-FED5-6071DAD928C6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CAB4B5-2738-A943-FE29-A76A05493367}"/>
              </a:ext>
            </a:extLst>
          </p:cNvPr>
          <p:cNvSpPr txBox="1"/>
          <p:nvPr/>
        </p:nvSpPr>
        <p:spPr>
          <a:xfrm>
            <a:off x="939332" y="1189703"/>
            <a:ext cx="39276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7. </a:t>
            </a:r>
            <a:r>
              <a:rPr lang="ko-KR" altLang="en-US" dirty="0">
                <a:latin typeface="+mj-ea"/>
                <a:ea typeface="+mj-ea"/>
              </a:rPr>
              <a:t>기대 효과 및 향후 확장성 </a:t>
            </a:r>
            <a:r>
              <a:rPr lang="en-US" altLang="ko-KR" dirty="0">
                <a:latin typeface="+mj-ea"/>
                <a:ea typeface="+mj-ea"/>
              </a:rPr>
              <a:t>(Expected Impact)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E9953E83-E407-B61E-5E64-17F3EA50FCB9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Google Shape;102;p2">
            <a:extLst>
              <a:ext uri="{FF2B5EF4-FFF2-40B4-BE49-F238E27FC236}">
                <a16:creationId xmlns:a16="http://schemas.microsoft.com/office/drawing/2014/main" id="{092B5F58-4C29-C5F8-0720-9DFB3E434D6A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7.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기대 효과 및 향후 확장성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(Expected Impact)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" name="Google Shape;105;p2">
            <a:extLst>
              <a:ext uri="{FF2B5EF4-FFF2-40B4-BE49-F238E27FC236}">
                <a16:creationId xmlns:a16="http://schemas.microsoft.com/office/drawing/2014/main" id="{72B426FE-2A85-BFED-59A8-9822F9722ABB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2178B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" name="Google Shape;99;p2">
            <a:extLst>
              <a:ext uri="{FF2B5EF4-FFF2-40B4-BE49-F238E27FC236}">
                <a16:creationId xmlns:a16="http://schemas.microsoft.com/office/drawing/2014/main" id="{4BB48182-34C6-3BEE-3AA6-D59D120B8674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04B9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101;p2">
            <a:extLst>
              <a:ext uri="{FF2B5EF4-FFF2-40B4-BE49-F238E27FC236}">
                <a16:creationId xmlns:a16="http://schemas.microsoft.com/office/drawing/2014/main" id="{60DD28D2-AA4F-BDB2-A975-8313F18BD5AD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rgbClr val="2691C5"/>
          </a:solidFill>
          <a:ln>
            <a:solidFill>
              <a:srgbClr val="FFFFFF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" name="Google Shape;100;p2">
            <a:extLst>
              <a:ext uri="{FF2B5EF4-FFF2-40B4-BE49-F238E27FC236}">
                <a16:creationId xmlns:a16="http://schemas.microsoft.com/office/drawing/2014/main" id="{A38C2A3A-1116-CB84-87A3-7D297146A592}"/>
              </a:ext>
            </a:extLst>
          </p:cNvPr>
          <p:cNvSpPr txBox="1"/>
          <p:nvPr/>
        </p:nvSpPr>
        <p:spPr>
          <a:xfrm>
            <a:off x="9966782" y="211942"/>
            <a:ext cx="1866339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JB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금융그룹 </a:t>
            </a:r>
            <a:r>
              <a:rPr lang="en-US" altLang="ko-KR" sz="1000" b="1" i="0" u="none" strike="noStrike" cap="none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Fin:AI</a:t>
            </a: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Challenge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1" name="Google Shape;92;p1">
            <a:extLst>
              <a:ext uri="{FF2B5EF4-FFF2-40B4-BE49-F238E27FC236}">
                <a16:creationId xmlns:a16="http://schemas.microsoft.com/office/drawing/2014/main" id="{1FC3F817-B0A9-AE3C-6E77-6617FE62666B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64707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4CF8A7C-3BAD-7322-7C02-7E75424A87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160" y="6542046"/>
            <a:ext cx="1125182" cy="189966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868680" y="1682496"/>
            <a:ext cx="2514600" cy="1170432"/>
          </a:xfrm>
          <a:prstGeom prst="roundRect">
            <a:avLst>
              <a:gd name="adj" fmla="val 8000"/>
            </a:avLst>
          </a:prstGeom>
          <a:solidFill>
            <a:srgbClr val="F5F0E8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6695" y="1773936"/>
            <a:ext cx="22585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A9583E"/>
                </a:solidFill>
                <a:latin typeface="Pretendard"/>
                <a:ea typeface="Pretendard"/>
              </a:rPr>
              <a:t>50%↓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5" y="2139696"/>
            <a:ext cx="22585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141413"/>
                </a:solidFill>
                <a:latin typeface="Pretendard"/>
                <a:ea typeface="Pretendard"/>
              </a:rPr>
              <a:t>위험 인지→대응 착수 시간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5" y="2395728"/>
            <a:ext cx="225856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C6A64"/>
                </a:solidFill>
                <a:latin typeface="Pretendard"/>
                <a:ea typeface="Pretendard"/>
              </a:rPr>
              <a:t>RM이 케이스 화면 하나로 원인·근거·다음 행동 파악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66160" y="1682496"/>
            <a:ext cx="2514600" cy="1170432"/>
          </a:xfrm>
          <a:prstGeom prst="roundRect">
            <a:avLst>
              <a:gd name="adj" fmla="val 8000"/>
            </a:avLst>
          </a:prstGeom>
          <a:solidFill>
            <a:srgbClr val="F5F0E8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94176" y="1773936"/>
            <a:ext cx="22585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A9583E"/>
                </a:solidFill>
                <a:latin typeface="Pretendard"/>
                <a:ea typeface="Pretendard"/>
              </a:rPr>
              <a:t>100%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94176" y="2139696"/>
            <a:ext cx="22585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141413"/>
                </a:solidFill>
                <a:latin typeface="Pretendard"/>
                <a:ea typeface="Pretendard"/>
              </a:rPr>
              <a:t>판단의 근거 연결률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94176" y="2395728"/>
            <a:ext cx="225856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C6A64"/>
                </a:solidFill>
                <a:latin typeface="Pretendard"/>
                <a:ea typeface="Pretendard"/>
              </a:rPr>
              <a:t>모든 Agent 판단에 출처 링크 또는 내부 이벤트 연결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1682496"/>
            <a:ext cx="2514600" cy="1170432"/>
          </a:xfrm>
          <a:prstGeom prst="roundRect">
            <a:avLst>
              <a:gd name="adj" fmla="val 8000"/>
            </a:avLst>
          </a:prstGeom>
          <a:solidFill>
            <a:srgbClr val="F5F0E8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91656" y="1773936"/>
            <a:ext cx="22585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A9583E"/>
                </a:solidFill>
                <a:latin typeface="Pretendard"/>
                <a:ea typeface="Pretendard"/>
              </a:rPr>
              <a:t>100%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1656" y="2139696"/>
            <a:ext cx="22585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141413"/>
                </a:solidFill>
                <a:latin typeface="Pretendard"/>
                <a:ea typeface="Pretendard"/>
              </a:rPr>
              <a:t>고객 대상 행동 승인 통과율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1656" y="2395728"/>
            <a:ext cx="225856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C6A64"/>
                </a:solidFill>
                <a:latin typeface="Pretendard"/>
                <a:ea typeface="Pretendard"/>
              </a:rPr>
              <a:t>승인 게이트 없이는 외부 안내 불가 — 내부통제 내장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20" y="1682496"/>
            <a:ext cx="2514600" cy="1170432"/>
          </a:xfrm>
          <a:prstGeom prst="roundRect">
            <a:avLst>
              <a:gd name="adj" fmla="val 8000"/>
            </a:avLst>
          </a:prstGeom>
          <a:solidFill>
            <a:srgbClr val="F5F0E8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89136" y="1773936"/>
            <a:ext cx="22585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A9583E"/>
                </a:solidFill>
                <a:latin typeface="Pretendard"/>
                <a:ea typeface="Pretendard"/>
              </a:rPr>
              <a:t>0건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89136" y="2139696"/>
            <a:ext cx="22585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141413"/>
                </a:solidFill>
                <a:latin typeface="Pretendard"/>
                <a:ea typeface="Pretendard"/>
              </a:rPr>
              <a:t>고위험 사기 케이스 외부 발송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89136" y="2395728"/>
            <a:ext cx="225856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C6A64"/>
                </a:solidFill>
                <a:latin typeface="Pretendard"/>
                <a:ea typeface="Pretendard"/>
              </a:rPr>
              <a:t>Fraud Shield가 자동 차단, 보안 escalation만 허용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2889504"/>
            <a:ext cx="10607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8E8B82"/>
                </a:solidFill>
                <a:latin typeface="Pretendard"/>
                <a:ea typeface="Pretendard"/>
              </a:rPr>
              <a:t>* MVP 운영 목표 지표 — 본선에서 실데이터 PoC로 측정·검증 예정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3200400"/>
            <a:ext cx="6035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141413"/>
                </a:solidFill>
                <a:latin typeface="Pretendard"/>
                <a:ea typeface="Pretendard"/>
              </a:rPr>
              <a:t>발전 경로 — 예선에서 고객 서비스까지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8680" y="3474720"/>
            <a:ext cx="1405889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68680" y="3474720"/>
            <a:ext cx="1405889" cy="274320"/>
          </a:xfrm>
          <a:prstGeom prst="roundRect">
            <a:avLst>
              <a:gd name="adj" fmla="val 15000"/>
            </a:avLst>
          </a:prstGeom>
          <a:solidFill>
            <a:srgbClr val="5D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1832" y="3515868"/>
            <a:ext cx="125958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FFFFFF"/>
                </a:solidFill>
                <a:latin typeface="Pretendard"/>
                <a:ea typeface="Pretendard"/>
              </a:rPr>
              <a:t>예선 (완료)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" y="3840480"/>
            <a:ext cx="122301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3D3D3A"/>
                </a:solidFill>
                <a:latin typeface="Pretendard"/>
                <a:ea typeface="Pretendard"/>
              </a:rPr>
              <a:t>정적 MVP 콘솔</a:t>
            </a:r>
          </a:p>
          <a:p>
            <a:pPr algn="l">
              <a:spcAft>
                <a:spcPts val="100"/>
              </a:spcAft>
            </a:pPr>
            <a:r>
              <a:rPr sz="800" b="0">
                <a:solidFill>
                  <a:srgbClr val="3D3D3A"/>
                </a:solidFill>
                <a:latin typeface="Pretendard"/>
                <a:ea typeface="Pretendard"/>
              </a:rPr>
              <a:t>7개 시나리오 검증 · GitHub 공개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279141" y="3986784"/>
            <a:ext cx="128017" cy="0"/>
          </a:xfrm>
          <a:prstGeom prst="line">
            <a:avLst/>
          </a:prstGeom>
          <a:ln w="15240">
            <a:solidFill>
              <a:srgbClr val="6C6A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2411729" y="3474720"/>
            <a:ext cx="1405889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411729" y="3474720"/>
            <a:ext cx="1405889" cy="274320"/>
          </a:xfrm>
          <a:prstGeom prst="roundRect">
            <a:avLst>
              <a:gd name="adj" fmla="val 15000"/>
            </a:avLst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484882" y="3515868"/>
            <a:ext cx="125958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FFFFFF"/>
                </a:solidFill>
                <a:latin typeface="Pretendard"/>
                <a:ea typeface="Pretendard"/>
              </a:rPr>
              <a:t>본선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03170" y="3840480"/>
            <a:ext cx="122301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3D3D3A"/>
                </a:solidFill>
                <a:latin typeface="Pretendard"/>
                <a:ea typeface="Pretendard"/>
              </a:rPr>
              <a:t>LLM · RAG 연동</a:t>
            </a:r>
          </a:p>
          <a:p>
            <a:pPr algn="l">
              <a:spcAft>
                <a:spcPts val="100"/>
              </a:spcAft>
            </a:pPr>
            <a:r>
              <a:rPr sz="800" b="0">
                <a:solidFill>
                  <a:srgbClr val="3D3D3A"/>
                </a:solidFill>
                <a:latin typeface="Pretendard"/>
                <a:ea typeface="Pretendard"/>
              </a:rPr>
              <a:t>공공데이터 PoC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3822191" y="3986784"/>
            <a:ext cx="128016" cy="0"/>
          </a:xfrm>
          <a:prstGeom prst="line">
            <a:avLst/>
          </a:prstGeom>
          <a:ln w="15240">
            <a:solidFill>
              <a:srgbClr val="6C6A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3954779" y="3474720"/>
            <a:ext cx="1405889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3954779" y="3474720"/>
            <a:ext cx="1405889" cy="274320"/>
          </a:xfrm>
          <a:prstGeom prst="roundRect">
            <a:avLst>
              <a:gd name="adj" fmla="val 15000"/>
            </a:avLst>
          </a:prstGeom>
          <a:solidFill>
            <a:srgbClr val="A95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27931" y="3515868"/>
            <a:ext cx="125958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FFFFFF"/>
                </a:solidFill>
                <a:latin typeface="Pretendard"/>
                <a:ea typeface="Pretendard"/>
              </a:rPr>
              <a:t>내부 파일럿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46219" y="3840480"/>
            <a:ext cx="122301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3D3D3A"/>
                </a:solidFill>
                <a:latin typeface="Pretendard"/>
                <a:ea typeface="Pretendard"/>
              </a:rPr>
              <a:t>전북은행 RM 부서</a:t>
            </a:r>
          </a:p>
          <a:p>
            <a:pPr algn="l">
              <a:spcAft>
                <a:spcPts val="100"/>
              </a:spcAft>
            </a:pPr>
            <a:r>
              <a:rPr sz="800" b="0">
                <a:solidFill>
                  <a:srgbClr val="3D3D3A"/>
                </a:solidFill>
                <a:latin typeface="Pretendard"/>
                <a:ea typeface="Pretendard"/>
              </a:rPr>
              <a:t>승인·감사 정책 검증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365241" y="3986784"/>
            <a:ext cx="128016" cy="0"/>
          </a:xfrm>
          <a:prstGeom prst="line">
            <a:avLst/>
          </a:prstGeom>
          <a:ln w="15240">
            <a:solidFill>
              <a:srgbClr val="6C6A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5497829" y="3474720"/>
            <a:ext cx="1405889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5497829" y="3474720"/>
            <a:ext cx="1405889" cy="274320"/>
          </a:xfrm>
          <a:prstGeom prst="roundRect">
            <a:avLst>
              <a:gd name="adj" fmla="val 15000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570981" y="3515868"/>
            <a:ext cx="125958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FFFFFF"/>
                </a:solidFill>
                <a:latin typeface="Pretendard"/>
                <a:ea typeface="Pretendard"/>
              </a:rPr>
              <a:t>고객 서비스화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589269" y="3840480"/>
            <a:ext cx="122301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3D3D3A"/>
                </a:solidFill>
                <a:latin typeface="Pretendard"/>
                <a:ea typeface="Pretendard"/>
              </a:rPr>
              <a:t>뱅킹 앱 연계</a:t>
            </a:r>
          </a:p>
          <a:p>
            <a:pPr algn="l">
              <a:spcAft>
                <a:spcPts val="100"/>
              </a:spcAft>
            </a:pPr>
            <a:r>
              <a:rPr sz="800" b="0">
                <a:solidFill>
                  <a:srgbClr val="3D3D3A"/>
                </a:solidFill>
                <a:latin typeface="Pretendard"/>
                <a:ea typeface="Pretendard"/>
              </a:rPr>
              <a:t>전세 Shield 우선 출시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23759" y="3200400"/>
            <a:ext cx="4251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141413"/>
                </a:solidFill>
                <a:latin typeface="Pretendard"/>
                <a:ea typeface="Pretendard"/>
              </a:rPr>
              <a:t>운영 리스크 대응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23759" y="3474720"/>
            <a:ext cx="4251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141413"/>
                </a:solidFill>
                <a:latin typeface="Pretendard"/>
                <a:ea typeface="Pretendard"/>
              </a:rPr>
              <a:t>· 환각 · 오판 — </a:t>
            </a:r>
            <a:r>
              <a:rPr sz="869" b="0">
                <a:solidFill>
                  <a:srgbClr val="3D3D3A"/>
                </a:solidFill>
                <a:latin typeface="Pretendard"/>
                <a:ea typeface="Pretendard"/>
              </a:rPr>
              <a:t>근거 링크 강제 + 확정 표현 금지 + 사람 승인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23759" y="3749039"/>
            <a:ext cx="4251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141413"/>
                </a:solidFill>
                <a:latin typeface="Pretendard"/>
                <a:ea typeface="Pretendard"/>
              </a:rPr>
              <a:t>· 개인정보 · 보안 — </a:t>
            </a:r>
            <a:r>
              <a:rPr sz="869" b="0">
                <a:solidFill>
                  <a:srgbClr val="3D3D3A"/>
                </a:solidFill>
                <a:latin typeface="Pretendard"/>
                <a:ea typeface="Pretendard"/>
              </a:rPr>
              <a:t>마스킹 · 내부망 전제 · 접근 권한 분리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23759" y="4023359"/>
            <a:ext cx="4251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141413"/>
                </a:solidFill>
                <a:latin typeface="Pretendard"/>
                <a:ea typeface="Pretendard"/>
              </a:rPr>
              <a:t>· 책임소재 · 설명가능성 — </a:t>
            </a:r>
            <a:r>
              <a:rPr sz="869" b="0">
                <a:solidFill>
                  <a:srgbClr val="3D3D3A"/>
                </a:solidFill>
                <a:latin typeface="Pretendard"/>
                <a:ea typeface="Pretendard"/>
              </a:rPr>
              <a:t>감사 로그로 판단·승인 주체 전 과정 추적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23759" y="4297679"/>
            <a:ext cx="4251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141413"/>
                </a:solidFill>
                <a:latin typeface="Pretendard"/>
                <a:ea typeface="Pretendard"/>
              </a:rPr>
              <a:t>· 저작권 · 라이선스 — </a:t>
            </a:r>
            <a:r>
              <a:rPr sz="869" b="0">
                <a:solidFill>
                  <a:srgbClr val="3D3D3A"/>
                </a:solidFill>
                <a:latin typeface="Pretendard"/>
                <a:ea typeface="Pretendard"/>
              </a:rPr>
              <a:t>공공·공식 출처 우선, 기사 등은 링크 인용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68680" y="4681728"/>
            <a:ext cx="10607040" cy="713232"/>
          </a:xfrm>
          <a:prstGeom prst="roundRect">
            <a:avLst>
              <a:gd name="adj" fmla="val 10000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97280" y="4791456"/>
            <a:ext cx="10149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CC785C"/>
                </a:solidFill>
                <a:latin typeface="Pretendard"/>
                <a:ea typeface="Pretendard"/>
              </a:rPr>
              <a:t>계열사 확장: </a:t>
            </a:r>
            <a:r>
              <a:rPr sz="950" b="0">
                <a:solidFill>
                  <a:srgbClr val="FAF9F5"/>
                </a:solidFill>
                <a:latin typeface="Pretendard"/>
                <a:ea typeface="Pretendard"/>
              </a:rPr>
              <a:t>전북은행(지역 SME · 전세 Shield)  →  광주은행(가계 · 청년)  →  JB우리캐피탈(할부 · 리스 사후관리)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97280" y="5065776"/>
            <a:ext cx="10149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A09D96"/>
                </a:solidFill>
                <a:latin typeface="Pretendard"/>
                <a:ea typeface="Pretendard"/>
              </a:rPr>
              <a:t>JB금융그룹이 공개한 AI 추진 방향(기업대출 상담·심사·사후관리 AI — 네이버클라우드 업무협약)과 같은 축에서 확장</a:t>
            </a:r>
          </a:p>
        </p:txBody>
      </p:sp>
    </p:spTree>
    <p:extLst>
      <p:ext uri="{BB962C8B-B14F-4D97-AF65-F5344CB8AC3E}">
        <p14:creationId xmlns:p14="http://schemas.microsoft.com/office/powerpoint/2010/main" val="133596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</TotalTime>
  <Words>377</Words>
  <Application>Microsoft Office PowerPoint</Application>
  <PresentationFormat>와이드스크린</PresentationFormat>
  <Paragraphs>66</Paragraphs>
  <Slides>8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Pretendard_KR</vt:lpstr>
      <vt:lpstr>Malgun Gothic</vt:lpstr>
      <vt:lpstr>Malgun Gothic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Dacon io</dc:creator>
  <cp:lastModifiedBy>Dacon io</cp:lastModifiedBy>
  <cp:revision>47</cp:revision>
  <dcterms:created xsi:type="dcterms:W3CDTF">2024-05-21T00:00:56Z</dcterms:created>
  <dcterms:modified xsi:type="dcterms:W3CDTF">2026-05-11T00:07:25Z</dcterms:modified>
</cp:coreProperties>
</file>